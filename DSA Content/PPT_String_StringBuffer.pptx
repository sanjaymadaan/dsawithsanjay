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98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 varScale="1">
        <p:scale>
          <a:sx n="65" d="100"/>
          <a:sy n="65" d="100"/>
        </p:scale>
        <p:origin x="-1452" y="-108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273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5465" y="168655"/>
            <a:ext cx="8653068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" y="4546427"/>
            <a:ext cx="9134856" cy="209516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60475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182880" y="0"/>
                </a:lnTo>
                <a:lnTo>
                  <a:pt x="0" y="0"/>
                </a:lnTo>
                <a:lnTo>
                  <a:pt x="0" y="25908"/>
                </a:lnTo>
                <a:lnTo>
                  <a:pt x="18288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21E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28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32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657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439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86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7462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5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85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144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A5D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972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B69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801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D74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46303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EE7D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6459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08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8288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39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0116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49C0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21945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6A6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37743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8A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5603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7432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9260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FAB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10896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B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32918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34747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BC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36576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38404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40233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CC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42062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DC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43891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D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45720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AC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47548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F3C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49377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BC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51206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E3C5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53035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DCC5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54864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D4C3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566927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CCC1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58521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B8BB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60350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60" h="26034">
                <a:moveTo>
                  <a:pt x="365760" y="0"/>
                </a:moveTo>
                <a:lnTo>
                  <a:pt x="0" y="0"/>
                </a:lnTo>
                <a:lnTo>
                  <a:pt x="0" y="25908"/>
                </a:lnTo>
                <a:lnTo>
                  <a:pt x="365760" y="25908"/>
                </a:lnTo>
                <a:lnTo>
                  <a:pt x="365760" y="0"/>
                </a:lnTo>
                <a:close/>
              </a:path>
            </a:pathLst>
          </a:custGeom>
          <a:solidFill>
            <a:srgbClr val="A2B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621792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8BB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64008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70A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65836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51A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67665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1DA1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69494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9D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71323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97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73152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8B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74980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76809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71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78638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0062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804671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1752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822960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2D4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841248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03D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8595359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33A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8778240" y="760476"/>
            <a:ext cx="365760" cy="26034"/>
          </a:xfrm>
          <a:custGeom>
            <a:avLst/>
            <a:gdLst/>
            <a:ahLst/>
            <a:cxnLst/>
            <a:rect l="l" t="t" r="r" b="b"/>
            <a:pathLst>
              <a:path w="365759" h="26034">
                <a:moveTo>
                  <a:pt x="365759" y="0"/>
                </a:moveTo>
                <a:lnTo>
                  <a:pt x="0" y="0"/>
                </a:lnTo>
                <a:lnTo>
                  <a:pt x="0" y="25908"/>
                </a:lnTo>
                <a:lnTo>
                  <a:pt x="365759" y="25908"/>
                </a:lnTo>
                <a:lnTo>
                  <a:pt x="365759" y="0"/>
                </a:lnTo>
                <a:close/>
              </a:path>
            </a:pathLst>
          </a:custGeom>
          <a:solidFill>
            <a:srgbClr val="353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8961119" y="760476"/>
            <a:ext cx="182880" cy="26034"/>
          </a:xfrm>
          <a:custGeom>
            <a:avLst/>
            <a:gdLst/>
            <a:ahLst/>
            <a:cxnLst/>
            <a:rect l="l" t="t" r="r" b="b"/>
            <a:pathLst>
              <a:path w="182879" h="26034">
                <a:moveTo>
                  <a:pt x="182879" y="0"/>
                </a:moveTo>
                <a:lnTo>
                  <a:pt x="0" y="0"/>
                </a:lnTo>
                <a:lnTo>
                  <a:pt x="0" y="25908"/>
                </a:lnTo>
                <a:lnTo>
                  <a:pt x="182879" y="25908"/>
                </a:lnTo>
                <a:lnTo>
                  <a:pt x="182879" y="0"/>
                </a:lnTo>
                <a:close/>
              </a:path>
            </a:pathLst>
          </a:custGeom>
          <a:solidFill>
            <a:srgbClr val="393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65984" y="2636011"/>
            <a:ext cx="4812030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39" y="1170178"/>
            <a:ext cx="8072120" cy="4430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4617" y="6643007"/>
            <a:ext cx="216535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E7E7E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7/docs/api/java/lang/StringBuffer.html" TargetMode="External"/><Relationship Id="rId2" Type="http://schemas.openxmlformats.org/officeDocument/2006/relationships/hyperlink" Target="https://docs.oracle.com/javase/7/docs/api/java/lang/String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2057400" y="2971800"/>
            <a:ext cx="5645100" cy="18973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lang="en-US" sz="3200" b="1" spc="-5" dirty="0" smtClean="0"/>
              <a:t>String</a:t>
            </a:r>
            <a:r>
              <a:rPr lang="en-US" sz="3200" b="1" spc="-10" dirty="0" smtClean="0"/>
              <a:t> </a:t>
            </a:r>
            <a:r>
              <a:rPr lang="en-US" sz="3200" b="1" spc="-5" dirty="0" smtClean="0"/>
              <a:t>Manipulation</a:t>
            </a:r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endParaRPr lang="en-US" sz="3200" b="1" spc="-5" dirty="0" smtClean="0">
              <a:latin typeface="Arial"/>
              <a:cs typeface="Arial"/>
            </a:endParaRPr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endParaRPr lang="en-US" sz="3200" b="1" spc="-5" dirty="0" smtClean="0">
              <a:latin typeface="Arial"/>
              <a:cs typeface="Arial"/>
            </a:endParaRPr>
          </a:p>
          <a:p>
            <a:pPr marL="12700" algn="r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lang="en-US" sz="2000" spc="-5" dirty="0" smtClean="0">
                <a:latin typeface="Arial"/>
                <a:cs typeface="Arial"/>
              </a:rPr>
              <a:t>By: Sanjay Madaan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</a:t>
            </a:fld>
            <a:endParaRPr spc="-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5465" y="168655"/>
            <a:ext cx="1423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latin typeface="Arial"/>
                <a:cs typeface="Arial"/>
              </a:rPr>
              <a:t>A</a:t>
            </a:r>
            <a:r>
              <a:rPr sz="3000" b="1" spc="5" dirty="0">
                <a:latin typeface="Arial"/>
                <a:cs typeface="Arial"/>
              </a:rPr>
              <a:t>g</a:t>
            </a:r>
            <a:r>
              <a:rPr sz="3000" b="1" dirty="0">
                <a:latin typeface="Arial"/>
                <a:cs typeface="Arial"/>
              </a:rPr>
              <a:t>enda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008" y="1336547"/>
            <a:ext cx="316992" cy="8305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7100" y="1471929"/>
            <a:ext cx="4511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68960" algn="l"/>
              </a:tabLst>
            </a:pPr>
            <a:r>
              <a:rPr sz="1800" spc="-5" dirty="0">
                <a:solidFill>
                  <a:srgbClr val="FFFFFF"/>
                </a:solidFill>
                <a:latin typeface="Arial MT"/>
                <a:cs typeface="Arial MT"/>
              </a:rPr>
              <a:t>1	</a:t>
            </a:r>
            <a:r>
              <a:rPr sz="2800" b="1" spc="-5" dirty="0">
                <a:latin typeface="Arial"/>
                <a:cs typeface="Arial"/>
              </a:rPr>
              <a:t>String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and</a:t>
            </a:r>
            <a:r>
              <a:rPr sz="2800" b="1" spc="-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StringBuffer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</a:t>
            </a:fld>
            <a:endParaRPr spc="-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089" y="228980"/>
            <a:ext cx="19507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Objectives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767587" y="1138935"/>
            <a:ext cx="7158355" cy="1132840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dirty="0">
                <a:latin typeface="Arial MT"/>
                <a:cs typeface="Arial MT"/>
              </a:rPr>
              <a:t>At 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 this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module,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you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will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to:</a:t>
            </a:r>
            <a:endParaRPr sz="2400">
              <a:latin typeface="Arial MT"/>
              <a:cs typeface="Arial MT"/>
            </a:endParaRPr>
          </a:p>
          <a:p>
            <a:pPr marL="524510" indent="-287020">
              <a:lnSpc>
                <a:spcPct val="100000"/>
              </a:lnSpc>
              <a:spcBef>
                <a:spcPts val="1480"/>
              </a:spcBef>
              <a:buChar char="•"/>
              <a:tabLst>
                <a:tab pos="524510" algn="l"/>
                <a:tab pos="525145" algn="l"/>
              </a:tabLst>
            </a:pPr>
            <a:r>
              <a:rPr sz="2400" spc="-5" dirty="0">
                <a:latin typeface="Arial MT"/>
                <a:cs typeface="Arial MT"/>
              </a:rPr>
              <a:t>Implement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StringBuffer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1473453"/>
            <a:ext cx="8453755" cy="3655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1195070" algn="l"/>
                <a:tab pos="1570355" algn="l"/>
                <a:tab pos="1896110" algn="l"/>
                <a:tab pos="2830830" algn="l"/>
                <a:tab pos="3241040" algn="l"/>
                <a:tab pos="4905375" algn="l"/>
                <a:tab pos="5737225" algn="l"/>
                <a:tab pos="6333490" algn="l"/>
                <a:tab pos="7455534" algn="l"/>
                <a:tab pos="7863840" algn="l"/>
              </a:tabLst>
            </a:pP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group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character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.	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y	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objects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ty</a:t>
            </a:r>
            <a:r>
              <a:rPr sz="2400" spc="-5" dirty="0">
                <a:latin typeface="Arial MT"/>
                <a:cs typeface="Arial MT"/>
              </a:rPr>
              <a:t>pe  String.</a:t>
            </a:r>
            <a:endParaRPr sz="2400">
              <a:latin typeface="Arial MT"/>
              <a:cs typeface="Arial MT"/>
            </a:endParaRPr>
          </a:p>
          <a:p>
            <a:pPr marL="243840" marR="6985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  <a:tab pos="1172210" algn="l"/>
                <a:tab pos="1541145" algn="l"/>
                <a:tab pos="2534920" algn="l"/>
                <a:tab pos="3548379" algn="l"/>
                <a:tab pos="3967479" algn="l"/>
                <a:tab pos="5182870" algn="l"/>
                <a:tab pos="5533390" algn="l"/>
                <a:tab pos="6647815" algn="l"/>
                <a:tab pos="7185659" algn="l"/>
              </a:tabLst>
            </a:pPr>
            <a:r>
              <a:rPr sz="2400" dirty="0">
                <a:latin typeface="Arial MT"/>
                <a:cs typeface="Arial MT"/>
              </a:rPr>
              <a:t>Once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spc="-5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obje</a:t>
            </a:r>
            <a:r>
              <a:rPr sz="2400" dirty="0">
                <a:latin typeface="Arial MT"/>
                <a:cs typeface="Arial MT"/>
              </a:rPr>
              <a:t>ct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creat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t	</a:t>
            </a:r>
            <a:r>
              <a:rPr sz="2400" spc="-5" dirty="0">
                <a:latin typeface="Arial MT"/>
                <a:cs typeface="Arial MT"/>
              </a:rPr>
              <a:t>cannot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chan</a:t>
            </a:r>
            <a:r>
              <a:rPr sz="2400" spc="-15" dirty="0">
                <a:latin typeface="Arial MT"/>
                <a:cs typeface="Arial MT"/>
              </a:rPr>
              <a:t>g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.  </a:t>
            </a:r>
            <a:r>
              <a:rPr sz="2400" spc="-5" dirty="0">
                <a:latin typeface="Arial MT"/>
                <a:cs typeface="Arial MT"/>
              </a:rPr>
              <a:t>Strings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Immutable.</a:t>
            </a:r>
            <a:endParaRPr sz="240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13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get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changeable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class called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StringBuffer.</a:t>
            </a:r>
            <a:endParaRPr sz="2400">
              <a:latin typeface="Arial MT"/>
              <a:cs typeface="Arial MT"/>
            </a:endParaRPr>
          </a:p>
          <a:p>
            <a:pPr marL="243840" marR="508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  <a:tab pos="1212215" algn="l"/>
                <a:tab pos="1892935" algn="l"/>
                <a:tab pos="3667760" algn="l"/>
                <a:tab pos="4856480" algn="l"/>
                <a:tab pos="5467350" algn="l"/>
                <a:tab pos="6810375" algn="l"/>
                <a:tab pos="7303134" algn="l"/>
                <a:tab pos="8118475" algn="l"/>
              </a:tabLst>
            </a:pP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an</a:t>
            </a:r>
            <a:r>
              <a:rPr sz="2400" spc="-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20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spc="-5" dirty="0">
                <a:latin typeface="Arial MT"/>
                <a:cs typeface="Arial MT"/>
              </a:rPr>
              <a:t>gBu</a:t>
            </a:r>
            <a:r>
              <a:rPr sz="2400" spc="-45" dirty="0">
                <a:latin typeface="Arial MT"/>
                <a:cs typeface="Arial MT"/>
              </a:rPr>
              <a:t>f</a:t>
            </a:r>
            <a:r>
              <a:rPr sz="2400" dirty="0">
                <a:latin typeface="Arial MT"/>
                <a:cs typeface="Arial MT"/>
              </a:rPr>
              <a:t>f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r	cl</a:t>
            </a:r>
            <a:r>
              <a:rPr sz="2400" spc="-15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sses	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decl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red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fina</a:t>
            </a:r>
            <a:r>
              <a:rPr sz="2400" spc="-15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,	</a:t>
            </a:r>
            <a:r>
              <a:rPr sz="2400" spc="-5" dirty="0">
                <a:latin typeface="Arial MT"/>
                <a:cs typeface="Arial MT"/>
              </a:rPr>
              <a:t>so  there cannot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subclasses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classes.</a:t>
            </a:r>
            <a:endParaRPr sz="240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spcBef>
                <a:spcPts val="58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default </a:t>
            </a:r>
            <a:r>
              <a:rPr sz="2400" dirty="0">
                <a:latin typeface="Arial MT"/>
                <a:cs typeface="Arial MT"/>
              </a:rPr>
              <a:t>constructor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creates </a:t>
            </a:r>
            <a:r>
              <a:rPr sz="2400" spc="-5" dirty="0">
                <a:latin typeface="Arial MT"/>
                <a:cs typeface="Arial MT"/>
              </a:rPr>
              <a:t>an empty </a:t>
            </a:r>
            <a:r>
              <a:rPr sz="2400" dirty="0">
                <a:latin typeface="Arial MT"/>
                <a:cs typeface="Arial MT"/>
              </a:rPr>
              <a:t>string.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45"/>
              </a:spcBef>
            </a:pPr>
            <a:r>
              <a:rPr sz="2400" spc="-5" dirty="0">
                <a:latin typeface="Courier New"/>
                <a:cs typeface="Courier New"/>
              </a:rPr>
              <a:t>String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new </a:t>
            </a:r>
            <a:r>
              <a:rPr sz="2400" spc="-10" dirty="0">
                <a:latin typeface="Courier New"/>
                <a:cs typeface="Courier New"/>
              </a:rPr>
              <a:t>String();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112585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ng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298894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Creating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856843"/>
            <a:ext cx="8072120" cy="458724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31140" marR="3391535" indent="-231140" algn="r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31140" algn="l"/>
                <a:tab pos="231775" algn="l"/>
              </a:tabLst>
            </a:pPr>
            <a:r>
              <a:rPr sz="2000" spc="-5" dirty="0">
                <a:latin typeface="Courier New"/>
                <a:cs typeface="Courier New"/>
              </a:rPr>
              <a:t>To Create </a:t>
            </a:r>
            <a:r>
              <a:rPr sz="2000" dirty="0">
                <a:latin typeface="Courier New"/>
                <a:cs typeface="Courier New"/>
              </a:rPr>
              <a:t>a </a:t>
            </a:r>
            <a:r>
              <a:rPr sz="2000" spc="-5" dirty="0">
                <a:latin typeface="Courier New"/>
                <a:cs typeface="Courier New"/>
              </a:rPr>
              <a:t>String in JAVA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is</a:t>
            </a:r>
            <a:endParaRPr sz="2000">
              <a:latin typeface="Courier New"/>
              <a:cs typeface="Courier New"/>
            </a:endParaRPr>
          </a:p>
          <a:p>
            <a:pPr marR="3326765" algn="r">
              <a:lnSpc>
                <a:spcPct val="100000"/>
              </a:lnSpc>
              <a:spcBef>
                <a:spcPts val="1080"/>
              </a:spcBef>
            </a:pP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"abc";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equivalent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to:</a:t>
            </a:r>
            <a:endParaRPr sz="2400">
              <a:latin typeface="Arial MT"/>
              <a:cs typeface="Arial MT"/>
            </a:endParaRPr>
          </a:p>
          <a:p>
            <a:pPr marL="12700" marR="3479800">
              <a:lnSpc>
                <a:spcPts val="2880"/>
              </a:lnSpc>
              <a:spcBef>
                <a:spcPts val="5"/>
              </a:spcBef>
            </a:pPr>
            <a:r>
              <a:rPr sz="2000" spc="-5" dirty="0">
                <a:latin typeface="Courier New"/>
                <a:cs typeface="Courier New"/>
              </a:rPr>
              <a:t>char data[] </a:t>
            </a:r>
            <a:r>
              <a:rPr sz="2000" dirty="0">
                <a:latin typeface="Courier New"/>
                <a:cs typeface="Courier New"/>
              </a:rPr>
              <a:t>= </a:t>
            </a:r>
            <a:r>
              <a:rPr sz="2000" spc="-5" dirty="0">
                <a:latin typeface="Courier New"/>
                <a:cs typeface="Courier New"/>
              </a:rPr>
              <a:t>{'a', 'b', 'c'};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1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new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String(data);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050">
              <a:latin typeface="Courier New"/>
              <a:cs typeface="Courier New"/>
            </a:endParaRPr>
          </a:p>
          <a:p>
            <a:pPr marL="243840" marR="5080" indent="-231775">
              <a:lnSpc>
                <a:spcPct val="100000"/>
              </a:lnSpc>
              <a:tabLst>
                <a:tab pos="335915" algn="l"/>
                <a:tab pos="1082675" algn="l"/>
                <a:tab pos="1929764" algn="l"/>
                <a:tab pos="2320290" algn="l"/>
                <a:tab pos="2898140" algn="l"/>
                <a:tab pos="3882390" algn="l"/>
                <a:tab pos="5190490" algn="l"/>
                <a:tab pos="5563870" algn="l"/>
                <a:tab pos="6871334" algn="l"/>
                <a:tab pos="7635240" algn="l"/>
              </a:tabLst>
            </a:pP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f		</a:t>
            </a:r>
            <a:r>
              <a:rPr sz="2400" spc="-5" dirty="0">
                <a:latin typeface="Arial MT"/>
                <a:cs typeface="Arial MT"/>
              </a:rPr>
              <a:t>data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array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	the	</a:t>
            </a:r>
            <a:r>
              <a:rPr sz="2400" spc="-5" dirty="0">
                <a:latin typeface="Arial MT"/>
                <a:cs typeface="Arial MT"/>
              </a:rPr>
              <a:t>ab</a:t>
            </a:r>
            <a:r>
              <a:rPr sz="2400" spc="-15" dirty="0">
                <a:latin typeface="Arial MT"/>
                <a:cs typeface="Arial MT"/>
              </a:rPr>
              <a:t>o</a:t>
            </a:r>
            <a:r>
              <a:rPr sz="2400" spc="5" dirty="0">
                <a:latin typeface="Arial MT"/>
                <a:cs typeface="Arial MT"/>
              </a:rPr>
              <a:t>v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e</a:t>
            </a:r>
            <a:r>
              <a:rPr sz="2400" spc="-15" dirty="0">
                <a:latin typeface="Arial MT"/>
                <a:cs typeface="Arial MT"/>
              </a:rPr>
              <a:t>x</a:t>
            </a:r>
            <a:r>
              <a:rPr sz="2400" dirty="0">
                <a:latin typeface="Arial MT"/>
                <a:cs typeface="Arial MT"/>
              </a:rPr>
              <a:t>am</a:t>
            </a:r>
            <a:r>
              <a:rPr sz="2400" spc="-5" dirty="0">
                <a:latin typeface="Arial MT"/>
                <a:cs typeface="Arial MT"/>
              </a:rPr>
              <a:t>p</a:t>
            </a:r>
            <a:r>
              <a:rPr sz="2400" spc="-15" dirty="0">
                <a:latin typeface="Arial MT"/>
                <a:cs typeface="Arial MT"/>
              </a:rPr>
              <a:t>l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mo</a:t>
            </a:r>
            <a:r>
              <a:rPr sz="2400" dirty="0">
                <a:latin typeface="Arial MT"/>
                <a:cs typeface="Arial MT"/>
              </a:rPr>
              <a:t>d</a:t>
            </a:r>
            <a:r>
              <a:rPr sz="2400" spc="-5" dirty="0">
                <a:latin typeface="Arial MT"/>
                <a:cs typeface="Arial MT"/>
              </a:rPr>
              <a:t>ified</a:t>
            </a:r>
            <a:r>
              <a:rPr sz="2400" dirty="0">
                <a:latin typeface="Arial MT"/>
                <a:cs typeface="Arial MT"/>
              </a:rPr>
              <a:t>	aft</a:t>
            </a:r>
            <a:r>
              <a:rPr sz="2400" spc="-10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r	the 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dirty="0">
                <a:latin typeface="Arial MT"/>
                <a:cs typeface="Arial MT"/>
              </a:rPr>
              <a:t> str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created,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then </a:t>
            </a:r>
            <a:r>
              <a:rPr sz="2400" dirty="0">
                <a:latin typeface="Arial MT"/>
                <a:cs typeface="Arial MT"/>
              </a:rPr>
              <a:t>str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remains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unchanged.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Construct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 string </a:t>
            </a:r>
            <a:r>
              <a:rPr sz="2400" spc="-5" dirty="0">
                <a:latin typeface="Arial MT"/>
                <a:cs typeface="Arial MT"/>
              </a:rPr>
              <a:t>object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passing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another</a:t>
            </a:r>
            <a:r>
              <a:rPr sz="2400" dirty="0">
                <a:latin typeface="Arial MT"/>
                <a:cs typeface="Arial MT"/>
              </a:rPr>
              <a:t> string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object.</a:t>
            </a:r>
            <a:endParaRPr sz="24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str2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 </a:t>
            </a:r>
            <a:r>
              <a:rPr sz="2400" dirty="0">
                <a:latin typeface="Arial MT"/>
                <a:cs typeface="Arial MT"/>
              </a:rPr>
              <a:t>String(str);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38569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43101"/>
            <a:ext cx="8073390" cy="4269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1087120" indent="-231775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length()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returns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5" dirty="0">
                <a:latin typeface="Arial MT"/>
                <a:cs typeface="Arial MT"/>
              </a:rPr>
              <a:t> string.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Eg: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System.out.println("Varun".length());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// </a:t>
            </a:r>
            <a:r>
              <a:rPr sz="2400" spc="-5" dirty="0">
                <a:latin typeface="Arial MT"/>
                <a:cs typeface="Arial MT"/>
              </a:rPr>
              <a:t>prints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5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spc="-5" dirty="0">
                <a:latin typeface="Arial MT"/>
                <a:cs typeface="Arial MT"/>
              </a:rPr>
              <a:t>operator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concatenate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two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more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strings.</a:t>
            </a:r>
            <a:endParaRPr sz="240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Eg: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 myName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25" dirty="0">
                <a:latin typeface="Arial MT"/>
                <a:cs typeface="Arial MT"/>
              </a:rPr>
              <a:t> "Varun";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latin typeface="Arial MT"/>
                <a:cs typeface="Arial MT"/>
              </a:rPr>
              <a:t>String </a:t>
            </a:r>
            <a:r>
              <a:rPr sz="2400" dirty="0">
                <a:latin typeface="Arial MT"/>
                <a:cs typeface="Arial MT"/>
              </a:rPr>
              <a:t>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"My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name</a:t>
            </a:r>
            <a:r>
              <a:rPr sz="2400" dirty="0">
                <a:latin typeface="Arial MT"/>
                <a:cs typeface="Arial MT"/>
              </a:rPr>
              <a:t> is"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myName+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".";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243840" marR="5080" indent="-231775" algn="just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For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concatenation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Java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compiler</a:t>
            </a:r>
            <a:r>
              <a:rPr sz="2400" dirty="0">
                <a:latin typeface="Arial MT"/>
                <a:cs typeface="Arial MT"/>
              </a:rPr>
              <a:t> converts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operand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whenever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other</a:t>
            </a:r>
            <a:r>
              <a:rPr sz="2400" spc="18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operand</a:t>
            </a:r>
            <a:r>
              <a:rPr sz="2400" spc="1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1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a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dirty="0">
                <a:latin typeface="Arial MT"/>
                <a:cs typeface="Arial MT"/>
              </a:rPr>
              <a:t> object.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8" y="154304"/>
            <a:ext cx="5528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607261"/>
            <a:ext cx="8528050" cy="300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dirty="0">
                <a:latin typeface="Arial MT"/>
                <a:cs typeface="Arial MT"/>
              </a:rPr>
              <a:t>Characters </a:t>
            </a:r>
            <a:r>
              <a:rPr sz="2400" spc="-5" dirty="0">
                <a:latin typeface="Arial MT"/>
                <a:cs typeface="Arial MT"/>
              </a:rPr>
              <a:t>in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 string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be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retrieved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ways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public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b="1" spc="-5" dirty="0">
                <a:latin typeface="Arial"/>
                <a:cs typeface="Arial"/>
              </a:rPr>
              <a:t>charAt</a:t>
            </a:r>
            <a:r>
              <a:rPr sz="2400" spc="-5" dirty="0">
                <a:latin typeface="Arial MT"/>
                <a:cs typeface="Arial MT"/>
              </a:rPr>
              <a:t>(int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index)</a:t>
            </a:r>
            <a:endParaRPr sz="2400">
              <a:latin typeface="Arial MT"/>
              <a:cs typeface="Arial MT"/>
            </a:endParaRPr>
          </a:p>
          <a:p>
            <a:pPr marL="756285" marR="5080" indent="-287020">
              <a:lnSpc>
                <a:spcPct val="100000"/>
              </a:lnSpc>
              <a:spcBef>
                <a:spcPts val="575"/>
              </a:spcBef>
              <a:tabLst>
                <a:tab pos="1902460" algn="l"/>
                <a:tab pos="2980055" algn="l"/>
                <a:tab pos="3533140" algn="l"/>
                <a:tab pos="4932680" algn="l"/>
                <a:tab pos="5313680" algn="l"/>
                <a:tab pos="5866765" algn="l"/>
                <a:tab pos="7198995" algn="l"/>
                <a:tab pos="8142605" algn="l"/>
              </a:tabLst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5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</a:t>
            </a:r>
            <a:r>
              <a:rPr sz="2400" spc="-5" dirty="0">
                <a:latin typeface="Arial MT"/>
                <a:cs typeface="Arial MT"/>
              </a:rPr>
              <a:t>hod</a:t>
            </a:r>
            <a:r>
              <a:rPr sz="2400" dirty="0">
                <a:latin typeface="Arial MT"/>
                <a:cs typeface="Arial MT"/>
              </a:rPr>
              <a:t>	ret</a:t>
            </a:r>
            <a:r>
              <a:rPr sz="2400" spc="-10" dirty="0">
                <a:latin typeface="Arial MT"/>
                <a:cs typeface="Arial MT"/>
              </a:rPr>
              <a:t>u</a:t>
            </a:r>
            <a:r>
              <a:rPr sz="2400" spc="-5" dirty="0">
                <a:latin typeface="Arial MT"/>
                <a:cs typeface="Arial MT"/>
              </a:rPr>
              <a:t>rns</a:t>
            </a:r>
            <a:r>
              <a:rPr sz="2400" dirty="0">
                <a:latin typeface="Arial MT"/>
                <a:cs typeface="Arial MT"/>
              </a:rPr>
              <a:t>	the	</a:t>
            </a:r>
            <a:r>
              <a:rPr sz="2400" spc="-15" dirty="0">
                <a:latin typeface="Arial MT"/>
                <a:cs typeface="Arial MT"/>
              </a:rPr>
              <a:t>c</a:t>
            </a:r>
            <a:r>
              <a:rPr sz="2400" spc="-5" dirty="0">
                <a:latin typeface="Arial MT"/>
                <a:cs typeface="Arial MT"/>
              </a:rPr>
              <a:t>haracter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t	the	</a:t>
            </a:r>
            <a:r>
              <a:rPr sz="2400" spc="-5" dirty="0">
                <a:latin typeface="Arial MT"/>
                <a:cs typeface="Arial MT"/>
              </a:rPr>
              <a:t>spec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f</a:t>
            </a:r>
            <a:r>
              <a:rPr sz="2400" spc="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ed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ind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10" dirty="0">
                <a:latin typeface="Arial MT"/>
                <a:cs typeface="Arial MT"/>
              </a:rPr>
              <a:t>x</a:t>
            </a:r>
            <a:r>
              <a:rPr sz="2400" dirty="0">
                <a:latin typeface="Arial MT"/>
                <a:cs typeface="Arial MT"/>
              </a:rPr>
              <a:t>.	</a:t>
            </a:r>
            <a:r>
              <a:rPr sz="2400" spc="-10" dirty="0">
                <a:latin typeface="Arial MT"/>
                <a:cs typeface="Arial MT"/>
              </a:rPr>
              <a:t>An  </a:t>
            </a:r>
            <a:r>
              <a:rPr sz="2400" spc="-5" dirty="0">
                <a:latin typeface="Arial MT"/>
                <a:cs typeface="Arial MT"/>
              </a:rPr>
              <a:t>index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ranges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 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length()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1</a:t>
            </a:r>
            <a:endParaRPr sz="24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ourier New"/>
                <a:cs typeface="Courier New"/>
              </a:rPr>
              <a:t>char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c;</a:t>
            </a:r>
            <a:endParaRPr sz="20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575"/>
              </a:spcBef>
            </a:pPr>
            <a:r>
              <a:rPr sz="2000" dirty="0">
                <a:latin typeface="Courier New"/>
                <a:cs typeface="Courier New"/>
              </a:rPr>
              <a:t>c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"abc".charAt(1);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//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c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=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“b”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744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59740" y="1168653"/>
            <a:ext cx="8379459" cy="4043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marR="6350" indent="-231775" algn="just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"/>
                <a:cs typeface="Arial"/>
              </a:rPr>
              <a:t>equals() </a:t>
            </a:r>
            <a:r>
              <a:rPr sz="2000" b="1" spc="-5" dirty="0">
                <a:latin typeface="Arial"/>
                <a:cs typeface="Arial"/>
              </a:rPr>
              <a:t>Method- </a:t>
            </a:r>
            <a:r>
              <a:rPr sz="2000" dirty="0">
                <a:latin typeface="Arial MT"/>
                <a:cs typeface="Arial MT"/>
              </a:rPr>
              <a:t>This </a:t>
            </a:r>
            <a:r>
              <a:rPr sz="2000" spc="-5" dirty="0">
                <a:latin typeface="Arial MT"/>
                <a:cs typeface="Arial MT"/>
              </a:rPr>
              <a:t>method is used to compare the </a:t>
            </a:r>
            <a:r>
              <a:rPr sz="2000" dirty="0">
                <a:latin typeface="Arial MT"/>
                <a:cs typeface="Arial MT"/>
              </a:rPr>
              <a:t>invoking String </a:t>
            </a:r>
            <a:r>
              <a:rPr sz="2000" spc="-10" dirty="0">
                <a:latin typeface="Arial MT"/>
                <a:cs typeface="Arial MT"/>
              </a:rPr>
              <a:t>to 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object specified. </a:t>
            </a:r>
            <a:r>
              <a:rPr sz="2000" spc="-5" dirty="0">
                <a:latin typeface="Arial MT"/>
                <a:cs typeface="Arial MT"/>
              </a:rPr>
              <a:t>It </a:t>
            </a:r>
            <a:r>
              <a:rPr sz="2000" dirty="0">
                <a:latin typeface="Arial MT"/>
                <a:cs typeface="Arial MT"/>
              </a:rPr>
              <a:t>will </a:t>
            </a:r>
            <a:r>
              <a:rPr sz="2000" spc="-5" dirty="0">
                <a:latin typeface="Arial MT"/>
                <a:cs typeface="Arial MT"/>
              </a:rPr>
              <a:t>return true, if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" dirty="0">
                <a:latin typeface="Arial MT"/>
                <a:cs typeface="Arial MT"/>
              </a:rPr>
              <a:t>argument is not </a:t>
            </a:r>
            <a:r>
              <a:rPr sz="2000" dirty="0">
                <a:latin typeface="Arial MT"/>
                <a:cs typeface="Arial MT"/>
              </a:rPr>
              <a:t>null </a:t>
            </a:r>
            <a:r>
              <a:rPr sz="2000" spc="-5" dirty="0">
                <a:latin typeface="Arial MT"/>
                <a:cs typeface="Arial MT"/>
              </a:rPr>
              <a:t>and it is </a:t>
            </a:r>
            <a:r>
              <a:rPr sz="2000" dirty="0">
                <a:latin typeface="Arial MT"/>
                <a:cs typeface="Arial MT"/>
              </a:rPr>
              <a:t> String object which </a:t>
            </a:r>
            <a:r>
              <a:rPr sz="2000" spc="-5" dirty="0">
                <a:latin typeface="Arial MT"/>
                <a:cs typeface="Arial MT"/>
              </a:rPr>
              <a:t>contains </a:t>
            </a:r>
            <a:r>
              <a:rPr sz="2000" dirty="0">
                <a:latin typeface="Arial MT"/>
                <a:cs typeface="Arial MT"/>
              </a:rPr>
              <a:t>the same </a:t>
            </a:r>
            <a:r>
              <a:rPr sz="2000" spc="-5" dirty="0">
                <a:latin typeface="Arial MT"/>
                <a:cs typeface="Arial MT"/>
              </a:rPr>
              <a:t>sequence of characters as the </a:t>
            </a:r>
            <a:r>
              <a:rPr sz="2000" dirty="0">
                <a:latin typeface="Arial MT"/>
                <a:cs typeface="Arial MT"/>
              </a:rPr>
              <a:t> invoking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0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</a:pPr>
            <a:r>
              <a:rPr sz="2000" b="1" spc="-5" dirty="0">
                <a:latin typeface="Courier New"/>
                <a:cs typeface="Courier New"/>
              </a:rPr>
              <a:t>public boolean</a:t>
            </a:r>
            <a:r>
              <a:rPr sz="2000" b="1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equals(Object anObject)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550">
              <a:latin typeface="Courier New"/>
              <a:cs typeface="Courier New"/>
            </a:endParaRPr>
          </a:p>
          <a:p>
            <a:pPr marL="243840" marR="5080" indent="-231775" algn="just">
              <a:lnSpc>
                <a:spcPct val="100000"/>
              </a:lnSpc>
            </a:pPr>
            <a:r>
              <a:rPr sz="2000" b="1" dirty="0">
                <a:latin typeface="Arial"/>
                <a:cs typeface="Arial"/>
              </a:rPr>
              <a:t>equalsIgnoreCase()</a:t>
            </a:r>
            <a:r>
              <a:rPr sz="2000" b="1" spc="5" dirty="0">
                <a:latin typeface="Arial"/>
                <a:cs typeface="Arial"/>
              </a:rPr>
              <a:t> </a:t>
            </a:r>
            <a:r>
              <a:rPr sz="2000" b="1" spc="-5" dirty="0">
                <a:latin typeface="Arial"/>
                <a:cs typeface="Arial"/>
              </a:rPr>
              <a:t>Method-</a:t>
            </a:r>
            <a:r>
              <a:rPr sz="2000" b="1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Compares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this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String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another</a:t>
            </a:r>
            <a:r>
              <a:rPr sz="2000" dirty="0">
                <a:latin typeface="Arial MT"/>
                <a:cs typeface="Arial MT"/>
              </a:rPr>
              <a:t> String,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ignoring </a:t>
            </a:r>
            <a:r>
              <a:rPr sz="2000" spc="-5" dirty="0">
                <a:latin typeface="Arial MT"/>
                <a:cs typeface="Arial MT"/>
              </a:rPr>
              <a:t>case </a:t>
            </a:r>
            <a:r>
              <a:rPr sz="2000" dirty="0">
                <a:latin typeface="Arial MT"/>
                <a:cs typeface="Arial MT"/>
              </a:rPr>
              <a:t>considerations. </a:t>
            </a:r>
            <a:r>
              <a:rPr sz="2000" spc="-35" dirty="0">
                <a:latin typeface="Arial MT"/>
                <a:cs typeface="Arial MT"/>
              </a:rPr>
              <a:t>Two </a:t>
            </a:r>
            <a:r>
              <a:rPr sz="2000" spc="-5" dirty="0">
                <a:latin typeface="Arial MT"/>
                <a:cs typeface="Arial MT"/>
              </a:rPr>
              <a:t>strings </a:t>
            </a:r>
            <a:r>
              <a:rPr sz="2000" dirty="0">
                <a:latin typeface="Arial MT"/>
                <a:cs typeface="Arial MT"/>
              </a:rPr>
              <a:t>are considered </a:t>
            </a:r>
            <a:r>
              <a:rPr sz="2000" spc="-5" dirty="0">
                <a:latin typeface="Arial MT"/>
                <a:cs typeface="Arial MT"/>
              </a:rPr>
              <a:t>equal </a:t>
            </a:r>
            <a:r>
              <a:rPr sz="2000" dirty="0">
                <a:latin typeface="Arial MT"/>
                <a:cs typeface="Arial MT"/>
              </a:rPr>
              <a:t>ignoring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 </a:t>
            </a:r>
            <a:r>
              <a:rPr sz="2000" spc="-5" dirty="0">
                <a:latin typeface="Arial MT"/>
                <a:cs typeface="Arial MT"/>
              </a:rPr>
              <a:t>if they are </a:t>
            </a:r>
            <a:r>
              <a:rPr sz="2000" dirty="0">
                <a:latin typeface="Arial MT"/>
                <a:cs typeface="Arial MT"/>
              </a:rPr>
              <a:t>of </a:t>
            </a:r>
            <a:r>
              <a:rPr sz="2000" spc="-5" dirty="0">
                <a:latin typeface="Arial MT"/>
                <a:cs typeface="Arial MT"/>
              </a:rPr>
              <a:t>the same </a:t>
            </a:r>
            <a:r>
              <a:rPr sz="2000" dirty="0">
                <a:latin typeface="Arial MT"/>
                <a:cs typeface="Arial MT"/>
              </a:rPr>
              <a:t>length, and </a:t>
            </a:r>
            <a:r>
              <a:rPr sz="2000" spc="-5" dirty="0">
                <a:latin typeface="Arial MT"/>
                <a:cs typeface="Arial MT"/>
              </a:rPr>
              <a:t>corresponding characters </a:t>
            </a:r>
            <a:r>
              <a:rPr sz="2000" spc="-10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two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are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equal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ignoring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case.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Arial MT"/>
              <a:cs typeface="Arial MT"/>
            </a:endParaRPr>
          </a:p>
          <a:p>
            <a:pPr marL="165100">
              <a:lnSpc>
                <a:spcPct val="100000"/>
              </a:lnSpc>
              <a:tabLst>
                <a:tab pos="6109335" algn="l"/>
              </a:tabLst>
            </a:pPr>
            <a:r>
              <a:rPr sz="2000" b="1" spc="-5" dirty="0">
                <a:latin typeface="Courier New"/>
                <a:cs typeface="Courier New"/>
              </a:rPr>
              <a:t>public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boolean</a:t>
            </a:r>
            <a:r>
              <a:rPr sz="2000" b="1" spc="45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equalsIgnoreCase(String	anotherString)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98247"/>
            <a:ext cx="779653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Strings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 created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assignment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operator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3096895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s1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“HELLO”;</a:t>
            </a:r>
            <a:endParaRPr sz="240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s2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5" dirty="0">
                <a:latin typeface="Arial MT"/>
                <a:cs typeface="Arial MT"/>
              </a:rPr>
              <a:t> “HELLO”;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95900" y="1965969"/>
            <a:ext cx="3200400" cy="3048000"/>
            <a:chOff x="5295900" y="1965969"/>
            <a:chExt cx="3200400" cy="304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5900" y="1965969"/>
              <a:ext cx="3200400" cy="30479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34000" y="1981200"/>
              <a:ext cx="3124200" cy="2971800"/>
            </a:xfrm>
            <a:custGeom>
              <a:avLst/>
              <a:gdLst/>
              <a:ahLst/>
              <a:cxnLst/>
              <a:rect l="l" t="t" r="r" b="b"/>
              <a:pathLst>
                <a:path w="3124200" h="2971800">
                  <a:moveTo>
                    <a:pt x="3124200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3124200" y="297180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4000" y="1981200"/>
              <a:ext cx="3124200" cy="2971800"/>
            </a:xfrm>
            <a:custGeom>
              <a:avLst/>
              <a:gdLst/>
              <a:ahLst/>
              <a:cxnLst/>
              <a:rect l="l" t="t" r="r" b="b"/>
              <a:pathLst>
                <a:path w="3124200" h="2971800">
                  <a:moveTo>
                    <a:pt x="0" y="2971800"/>
                  </a:moveTo>
                  <a:lnTo>
                    <a:pt x="3124200" y="2971800"/>
                  </a:lnTo>
                  <a:lnTo>
                    <a:pt x="3124200" y="0"/>
                  </a:lnTo>
                  <a:lnTo>
                    <a:pt x="0" y="0"/>
                  </a:lnTo>
                  <a:lnTo>
                    <a:pt x="0" y="2971800"/>
                  </a:lnTo>
                  <a:close/>
                </a:path>
              </a:pathLst>
            </a:custGeom>
            <a:ln w="914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5855" y="3633216"/>
              <a:ext cx="2456688" cy="123748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53100" y="3657600"/>
              <a:ext cx="2362200" cy="114300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753100" y="3657600"/>
              <a:ext cx="2362200" cy="1143000"/>
            </a:xfrm>
            <a:custGeom>
              <a:avLst/>
              <a:gdLst/>
              <a:ahLst/>
              <a:cxnLst/>
              <a:rect l="l" t="t" r="r" b="b"/>
              <a:pathLst>
                <a:path w="2362200" h="1143000">
                  <a:moveTo>
                    <a:pt x="0" y="1143000"/>
                  </a:moveTo>
                  <a:lnTo>
                    <a:pt x="2362200" y="1143000"/>
                  </a:lnTo>
                  <a:lnTo>
                    <a:pt x="2362200" y="0"/>
                  </a:lnTo>
                  <a:lnTo>
                    <a:pt x="0" y="0"/>
                  </a:lnTo>
                  <a:lnTo>
                    <a:pt x="0" y="1143000"/>
                  </a:lnTo>
                  <a:close/>
                </a:path>
              </a:pathLst>
            </a:custGeom>
            <a:ln w="914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9404" y="2546604"/>
              <a:ext cx="2069592" cy="56845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548373" y="2618359"/>
            <a:ext cx="774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HE</a:t>
            </a:r>
            <a:r>
              <a:rPr sz="1800" spc="-15" dirty="0">
                <a:latin typeface="Arial MT"/>
                <a:cs typeface="Arial MT"/>
              </a:rPr>
              <a:t>L</a:t>
            </a:r>
            <a:r>
              <a:rPr sz="1800" dirty="0">
                <a:latin typeface="Arial MT"/>
                <a:cs typeface="Arial MT"/>
              </a:rPr>
              <a:t>LO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75003" y="2740151"/>
            <a:ext cx="4825365" cy="2713355"/>
            <a:chOff x="1175003" y="2740151"/>
            <a:chExt cx="4825365" cy="271335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18203" y="2740151"/>
              <a:ext cx="2081783" cy="38404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963161" y="2775965"/>
              <a:ext cx="1981200" cy="273050"/>
            </a:xfrm>
            <a:custGeom>
              <a:avLst/>
              <a:gdLst/>
              <a:ahLst/>
              <a:cxnLst/>
              <a:rect l="l" t="t" r="r" b="b"/>
              <a:pathLst>
                <a:path w="1981200" h="273050">
                  <a:moveTo>
                    <a:pt x="0" y="272542"/>
                  </a:moveTo>
                  <a:lnTo>
                    <a:pt x="1981200" y="0"/>
                  </a:lnTo>
                </a:path>
              </a:pathLst>
            </a:custGeom>
            <a:ln w="25908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88308" y="2880359"/>
              <a:ext cx="2011680" cy="17663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039361" y="2916173"/>
              <a:ext cx="1905000" cy="1657350"/>
            </a:xfrm>
            <a:custGeom>
              <a:avLst/>
              <a:gdLst/>
              <a:ahLst/>
              <a:cxnLst/>
              <a:rect l="l" t="t" r="r" b="b"/>
              <a:pathLst>
                <a:path w="1905000" h="1657350">
                  <a:moveTo>
                    <a:pt x="0" y="1657350"/>
                  </a:moveTo>
                  <a:lnTo>
                    <a:pt x="1905000" y="0"/>
                  </a:lnTo>
                </a:path>
              </a:pathLst>
            </a:custGeom>
            <a:ln w="25908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5003" y="2775203"/>
              <a:ext cx="2831592" cy="56845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79803" y="4294631"/>
              <a:ext cx="2602992" cy="56845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31598" y="3497384"/>
              <a:ext cx="670709" cy="4320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55519" y="5021384"/>
              <a:ext cx="598932" cy="43202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197989" y="2846959"/>
            <a:ext cx="975360" cy="2510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8288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3e25ae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Arial MT"/>
              <a:cs typeface="Arial MT"/>
            </a:endParaRPr>
          </a:p>
          <a:p>
            <a:pPr marR="213995" algn="ctr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s1</a:t>
            </a:r>
            <a:endParaRPr sz="1800">
              <a:latin typeface="Arial MT"/>
              <a:cs typeface="Arial MT"/>
            </a:endParaRPr>
          </a:p>
          <a:p>
            <a:pPr marL="179705" marR="5080" indent="23495">
              <a:lnSpc>
                <a:spcPct val="251799"/>
              </a:lnSpc>
              <a:spcBef>
                <a:spcPts val="1125"/>
              </a:spcBef>
            </a:pPr>
            <a:r>
              <a:rPr sz="1800" spc="-10" dirty="0">
                <a:latin typeface="Arial MT"/>
                <a:cs typeface="Arial MT"/>
              </a:rPr>
              <a:t>3e25ae  </a:t>
            </a:r>
            <a:r>
              <a:rPr sz="1800" spc="-5" dirty="0">
                <a:latin typeface="Arial MT"/>
                <a:cs typeface="Arial MT"/>
              </a:rPr>
              <a:t>s2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9</a:t>
            </a:fld>
            <a:endParaRPr spc="-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174447"/>
            <a:ext cx="67837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Comparing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Strings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== operator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1044321"/>
            <a:ext cx="7797165" cy="444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What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is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the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output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?</a:t>
            </a:r>
            <a:endParaRPr sz="220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class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StringTest{</a:t>
            </a:r>
            <a:endParaRPr sz="2000">
              <a:latin typeface="Courier New"/>
              <a:cs typeface="Courier New"/>
            </a:endParaRPr>
          </a:p>
          <a:p>
            <a:pPr marL="243840" algn="just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static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void </a:t>
            </a:r>
            <a:r>
              <a:rPr sz="2000" spc="-5" dirty="0">
                <a:latin typeface="Courier New"/>
                <a:cs typeface="Courier New"/>
              </a:rPr>
              <a:t>main(String[]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args){</a:t>
            </a:r>
            <a:endParaRPr sz="2000">
              <a:latin typeface="Courier New"/>
              <a:cs typeface="Courier New"/>
            </a:endParaRPr>
          </a:p>
          <a:p>
            <a:pPr marL="469900" marR="4575810" algn="just">
              <a:lnSpc>
                <a:spcPct val="120000"/>
              </a:lnSpc>
            </a:pPr>
            <a:r>
              <a:rPr sz="2000" spc="-5" dirty="0">
                <a:latin typeface="Courier New"/>
                <a:cs typeface="Courier New"/>
              </a:rPr>
              <a:t>String s1="Hello"; </a:t>
            </a:r>
            <a:r>
              <a:rPr sz="2000" spc="-11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s2="Hello"; </a:t>
            </a:r>
            <a:r>
              <a:rPr sz="2000" spc="-119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if(s1==s2)</a:t>
            </a:r>
            <a:endParaRPr sz="2000">
              <a:latin typeface="Courier New"/>
              <a:cs typeface="Courier New"/>
            </a:endParaRPr>
          </a:p>
          <a:p>
            <a:pPr marL="927100" algn="just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</a:t>
            </a:r>
            <a:r>
              <a:rPr sz="2000" spc="3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objects</a:t>
            </a:r>
            <a:r>
              <a:rPr sz="2000" spc="3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referenced</a:t>
            </a:r>
            <a:endParaRPr sz="2000">
              <a:latin typeface="Courier New"/>
              <a:cs typeface="Courier New"/>
            </a:endParaRPr>
          </a:p>
          <a:p>
            <a:pPr marL="243840" algn="just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ourier New"/>
                <a:cs typeface="Courier New"/>
              </a:rPr>
              <a:t>are</a:t>
            </a:r>
            <a:r>
              <a:rPr sz="2000" spc="-5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same");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  <a:p>
            <a:pPr marL="243840" marR="5080" indent="68262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objects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referenced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are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not same");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5527344"/>
            <a:ext cx="178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54024" y="5582411"/>
            <a:ext cx="7543800" cy="832485"/>
            <a:chOff x="954024" y="5582411"/>
            <a:chExt cx="7543800" cy="8324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4024" y="5638755"/>
              <a:ext cx="7543800" cy="6096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3752" y="5582411"/>
              <a:ext cx="7321296" cy="8321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92124" y="5654039"/>
              <a:ext cx="7467600" cy="533400"/>
            </a:xfrm>
            <a:custGeom>
              <a:avLst/>
              <a:gdLst/>
              <a:ahLst/>
              <a:cxnLst/>
              <a:rect l="l" t="t" r="r" b="b"/>
              <a:pathLst>
                <a:path w="7467600" h="533400">
                  <a:moveTo>
                    <a:pt x="74676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467600" y="53340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92124" y="5654039"/>
              <a:ext cx="7467600" cy="533400"/>
            </a:xfrm>
            <a:custGeom>
              <a:avLst/>
              <a:gdLst/>
              <a:ahLst/>
              <a:cxnLst/>
              <a:rect l="l" t="t" r="r" b="b"/>
              <a:pathLst>
                <a:path w="7467600" h="533400">
                  <a:moveTo>
                    <a:pt x="0" y="533400"/>
                  </a:moveTo>
                  <a:lnTo>
                    <a:pt x="7467600" y="533400"/>
                  </a:lnTo>
                  <a:lnTo>
                    <a:pt x="74676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92124" y="5654040"/>
            <a:ext cx="7467600" cy="5334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328295">
              <a:lnSpc>
                <a:spcPct val="100000"/>
              </a:lnSpc>
              <a:spcBef>
                <a:spcPts val="355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String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referenced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are same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10</a:t>
            </a:fld>
            <a:endParaRPr spc="-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4447"/>
            <a:ext cx="73748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Comparing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Strings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equals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method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91869"/>
            <a:ext cx="7645400" cy="4204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What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is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the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output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?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class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StringTest{</a:t>
            </a:r>
            <a:endParaRPr sz="2000">
              <a:latin typeface="Courier New"/>
              <a:cs typeface="Courier New"/>
            </a:endParaRPr>
          </a:p>
          <a:p>
            <a:pPr marL="469900" marR="1437640" indent="-226060">
              <a:lnSpc>
                <a:spcPct val="120000"/>
              </a:lnSpc>
              <a:spcBef>
                <a:spcPts val="5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static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main(String[]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args){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s1="Hello";</a:t>
            </a:r>
            <a:endParaRPr sz="2000">
              <a:latin typeface="Courier New"/>
              <a:cs typeface="Courier New"/>
            </a:endParaRPr>
          </a:p>
          <a:p>
            <a:pPr marL="469900" marR="4423410">
              <a:lnSpc>
                <a:spcPct val="120000"/>
              </a:lnSpc>
            </a:pP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6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s2="Hello";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if(s1.equals(s2))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System.out.println("Strings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equal");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System.out.println("Strings are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not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equal");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9694" y="5565647"/>
            <a:ext cx="5410835" cy="832485"/>
            <a:chOff x="1409694" y="5565647"/>
            <a:chExt cx="5410835" cy="832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4" y="5623515"/>
              <a:ext cx="5410210" cy="6096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9091" y="5565647"/>
              <a:ext cx="4469891" cy="8321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47799" y="5638799"/>
              <a:ext cx="5334000" cy="533400"/>
            </a:xfrm>
            <a:custGeom>
              <a:avLst/>
              <a:gdLst/>
              <a:ahLst/>
              <a:cxnLst/>
              <a:rect l="l" t="t" r="r" b="b"/>
              <a:pathLst>
                <a:path w="5334000" h="533400">
                  <a:moveTo>
                    <a:pt x="5334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0" y="53340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799" y="5638799"/>
              <a:ext cx="5334000" cy="533400"/>
            </a:xfrm>
            <a:custGeom>
              <a:avLst/>
              <a:gdLst/>
              <a:ahLst/>
              <a:cxnLst/>
              <a:rect l="l" t="t" r="r" b="b"/>
              <a:pathLst>
                <a:path w="5334000" h="533400">
                  <a:moveTo>
                    <a:pt x="0" y="533400"/>
                  </a:moveTo>
                  <a:lnTo>
                    <a:pt x="5334000" y="533400"/>
                  </a:lnTo>
                  <a:lnTo>
                    <a:pt x="5334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47800" y="5638800"/>
            <a:ext cx="5334000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Strings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equal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11</a:t>
            </a:fld>
            <a:endParaRPr spc="-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98247"/>
            <a:ext cx="642048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Strings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created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new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keyword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019301"/>
            <a:ext cx="4738370" cy="90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6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 s1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String(“HELLO”);</a:t>
            </a:r>
            <a:endParaRPr sz="240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spcBef>
                <a:spcPts val="575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 s2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new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String(“HELLO”);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95900" y="1965969"/>
            <a:ext cx="3200400" cy="3048000"/>
            <a:chOff x="5295900" y="1965969"/>
            <a:chExt cx="3200400" cy="304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95900" y="1965969"/>
              <a:ext cx="3200400" cy="304798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34000" y="1981200"/>
              <a:ext cx="3124200" cy="2971800"/>
            </a:xfrm>
            <a:custGeom>
              <a:avLst/>
              <a:gdLst/>
              <a:ahLst/>
              <a:cxnLst/>
              <a:rect l="l" t="t" r="r" b="b"/>
              <a:pathLst>
                <a:path w="3124200" h="2971800">
                  <a:moveTo>
                    <a:pt x="3124200" y="0"/>
                  </a:moveTo>
                  <a:lnTo>
                    <a:pt x="0" y="0"/>
                  </a:lnTo>
                  <a:lnTo>
                    <a:pt x="0" y="2971800"/>
                  </a:lnTo>
                  <a:lnTo>
                    <a:pt x="3124200" y="2971800"/>
                  </a:lnTo>
                  <a:lnTo>
                    <a:pt x="312420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4000" y="1981200"/>
              <a:ext cx="3124200" cy="2971800"/>
            </a:xfrm>
            <a:custGeom>
              <a:avLst/>
              <a:gdLst/>
              <a:ahLst/>
              <a:cxnLst/>
              <a:rect l="l" t="t" r="r" b="b"/>
              <a:pathLst>
                <a:path w="3124200" h="2971800">
                  <a:moveTo>
                    <a:pt x="0" y="2971800"/>
                  </a:moveTo>
                  <a:lnTo>
                    <a:pt x="3124200" y="2971800"/>
                  </a:lnTo>
                  <a:lnTo>
                    <a:pt x="3124200" y="0"/>
                  </a:lnTo>
                  <a:lnTo>
                    <a:pt x="0" y="0"/>
                  </a:lnTo>
                  <a:lnTo>
                    <a:pt x="0" y="2971800"/>
                  </a:lnTo>
                  <a:close/>
                </a:path>
              </a:pathLst>
            </a:custGeom>
            <a:ln w="9144">
              <a:solidFill>
                <a:srgbClr val="00AE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4604" y="2546604"/>
              <a:ext cx="1993392" cy="5684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05220" y="2618359"/>
            <a:ext cx="775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HELLO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93519" y="2740151"/>
            <a:ext cx="4201795" cy="2023110"/>
            <a:chOff x="1493519" y="2740151"/>
            <a:chExt cx="4201795" cy="202311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18203" y="2740151"/>
              <a:ext cx="1776983" cy="38404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963162" y="2775965"/>
              <a:ext cx="1676400" cy="273050"/>
            </a:xfrm>
            <a:custGeom>
              <a:avLst/>
              <a:gdLst/>
              <a:ahLst/>
              <a:cxnLst/>
              <a:rect l="l" t="t" r="r" b="b"/>
              <a:pathLst>
                <a:path w="1676400" h="273050">
                  <a:moveTo>
                    <a:pt x="0" y="272542"/>
                  </a:moveTo>
                  <a:lnTo>
                    <a:pt x="1676400" y="0"/>
                  </a:lnTo>
                </a:path>
              </a:pathLst>
            </a:custGeom>
            <a:ln w="25908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6003" y="2775203"/>
              <a:ext cx="2450592" cy="5684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93519" y="4331012"/>
              <a:ext cx="1965960" cy="4320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1598" y="3497384"/>
              <a:ext cx="670709" cy="43202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388489" y="2846959"/>
            <a:ext cx="784860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3e25ad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Arial MT"/>
              <a:cs typeface="Arial MT"/>
            </a:endParaRPr>
          </a:p>
          <a:p>
            <a:pPr marL="654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55520" y="5021384"/>
            <a:ext cx="598932" cy="432023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083689" y="4366641"/>
            <a:ext cx="78486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 MT"/>
                <a:cs typeface="Arial MT"/>
              </a:rPr>
              <a:t>3e25ae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850">
              <a:latin typeface="Arial MT"/>
              <a:cs typeface="Arial MT"/>
            </a:endParaRPr>
          </a:p>
          <a:p>
            <a:pPr marL="44450" algn="ctr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s2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75603" y="3918203"/>
            <a:ext cx="1688592" cy="56845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434073" y="3990213"/>
            <a:ext cx="774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HE</a:t>
            </a:r>
            <a:r>
              <a:rPr sz="1800" spc="-15" dirty="0">
                <a:latin typeface="Arial MT"/>
                <a:cs typeface="Arial MT"/>
              </a:rPr>
              <a:t>L</a:t>
            </a:r>
            <a:r>
              <a:rPr sz="1800" dirty="0">
                <a:latin typeface="Arial MT"/>
                <a:cs typeface="Arial MT"/>
              </a:rPr>
              <a:t>LO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84803" y="4111752"/>
            <a:ext cx="2691765" cy="487680"/>
            <a:chOff x="3384803" y="4111752"/>
            <a:chExt cx="2691765" cy="487680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84803" y="4111752"/>
              <a:ext cx="2691383" cy="4876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29761" y="4147566"/>
              <a:ext cx="2590800" cy="376555"/>
            </a:xfrm>
            <a:custGeom>
              <a:avLst/>
              <a:gdLst/>
              <a:ahLst/>
              <a:cxnLst/>
              <a:rect l="l" t="t" r="r" b="b"/>
              <a:pathLst>
                <a:path w="2590800" h="376554">
                  <a:moveTo>
                    <a:pt x="0" y="376300"/>
                  </a:moveTo>
                  <a:lnTo>
                    <a:pt x="2590800" y="0"/>
                  </a:lnTo>
                </a:path>
              </a:pathLst>
            </a:custGeom>
            <a:ln w="25907">
              <a:solidFill>
                <a:srgbClr val="00A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12</a:t>
            </a:fld>
            <a:endParaRPr spc="-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264" y="98247"/>
            <a:ext cx="67837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Comparing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Strings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== operator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944372"/>
            <a:ext cx="7797165" cy="4448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What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is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the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output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?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class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StringTest{</a:t>
            </a:r>
            <a:endParaRPr sz="2000">
              <a:latin typeface="Courier New"/>
              <a:cs typeface="Courier New"/>
            </a:endParaRPr>
          </a:p>
          <a:p>
            <a:pPr marL="469900" marR="1602105" indent="-226060">
              <a:lnSpc>
                <a:spcPct val="120000"/>
              </a:lnSpc>
            </a:pPr>
            <a:r>
              <a:rPr sz="2000" spc="-5" dirty="0">
                <a:latin typeface="Courier New"/>
                <a:cs typeface="Courier New"/>
              </a:rPr>
              <a:t>public static void main(String[] args){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245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s1=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new</a:t>
            </a:r>
            <a:r>
              <a:rPr sz="2000" spc="25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String("Hello");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s2= new String("Hello");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if(s1==s2)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objects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referenced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</a:pP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same</a:t>
            </a:r>
            <a:r>
              <a:rPr sz="2000" spc="-4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spc="-5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  <a:p>
            <a:pPr marL="243840" marR="5080" indent="68262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objects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referenced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are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not same");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740" y="5427370"/>
            <a:ext cx="178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2272" y="5516879"/>
            <a:ext cx="7914640" cy="832485"/>
            <a:chOff x="652272" y="5516879"/>
            <a:chExt cx="7914640" cy="83248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803" y="5574747"/>
              <a:ext cx="7848592" cy="60968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272" y="5516879"/>
              <a:ext cx="7914132" cy="83210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5590031"/>
              <a:ext cx="7772400" cy="533400"/>
            </a:xfrm>
            <a:custGeom>
              <a:avLst/>
              <a:gdLst/>
              <a:ahLst/>
              <a:cxnLst/>
              <a:rect l="l" t="t" r="r" b="b"/>
              <a:pathLst>
                <a:path w="7772400" h="533400">
                  <a:moveTo>
                    <a:pt x="77724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7772400" y="533400"/>
                  </a:lnTo>
                  <a:lnTo>
                    <a:pt x="77724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900" y="5590031"/>
              <a:ext cx="7772400" cy="533400"/>
            </a:xfrm>
            <a:custGeom>
              <a:avLst/>
              <a:gdLst/>
              <a:ahLst/>
              <a:cxnLst/>
              <a:rect l="l" t="t" r="r" b="b"/>
              <a:pathLst>
                <a:path w="7772400" h="533400">
                  <a:moveTo>
                    <a:pt x="0" y="533400"/>
                  </a:moveTo>
                  <a:lnTo>
                    <a:pt x="7772400" y="533400"/>
                  </a:lnTo>
                  <a:lnTo>
                    <a:pt x="77724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23900" y="5590032"/>
            <a:ext cx="7772400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 String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objects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referenced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are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13</a:t>
            </a:fld>
            <a:endParaRPr spc="-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73748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Comparing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Strings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equals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 method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91869"/>
            <a:ext cx="7645400" cy="4204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What</a:t>
            </a:r>
            <a:r>
              <a:rPr sz="2200" b="1" u="heavy" spc="-2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is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the</a:t>
            </a:r>
            <a:r>
              <a:rPr sz="2200" b="1" u="heavy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200" b="1" u="heavy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output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?</a:t>
            </a:r>
            <a:endParaRPr sz="2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class</a:t>
            </a:r>
            <a:r>
              <a:rPr sz="2000" spc="-2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StringTest{</a:t>
            </a:r>
            <a:endParaRPr sz="2000">
              <a:latin typeface="Courier New"/>
              <a:cs typeface="Courier New"/>
            </a:endParaRPr>
          </a:p>
          <a:p>
            <a:pPr marL="469900" marR="1437640" indent="-226060">
              <a:lnSpc>
                <a:spcPct val="120000"/>
              </a:lnSpc>
              <a:spcBef>
                <a:spcPts val="5"/>
              </a:spcBef>
              <a:tabLst>
                <a:tab pos="2907665" algn="l"/>
              </a:tabLst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static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void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main(String[]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args){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s1=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new	String("Hello");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s2= new String("Hello");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if(s1.equals(s2))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System.out.println("Strings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dirty="0">
                <a:latin typeface="Courier New"/>
                <a:cs typeface="Courier New"/>
              </a:rPr>
              <a:t>are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equal");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else</a:t>
            </a:r>
            <a:endParaRPr sz="20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Courier New"/>
                <a:cs typeface="Courier New"/>
              </a:rPr>
              <a:t>System.out.println("Strings are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not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equal");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Courier New"/>
                <a:cs typeface="Courier New"/>
              </a:rPr>
              <a:t>}</a:t>
            </a:r>
            <a:endParaRPr sz="2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09694" y="5565647"/>
            <a:ext cx="5410835" cy="832485"/>
            <a:chOff x="1409694" y="5565647"/>
            <a:chExt cx="5410835" cy="832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9694" y="5623515"/>
              <a:ext cx="5410210" cy="6096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9091" y="5565647"/>
              <a:ext cx="4469891" cy="8321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447799" y="5638799"/>
              <a:ext cx="5334000" cy="533400"/>
            </a:xfrm>
            <a:custGeom>
              <a:avLst/>
              <a:gdLst/>
              <a:ahLst/>
              <a:cxnLst/>
              <a:rect l="l" t="t" r="r" b="b"/>
              <a:pathLst>
                <a:path w="5334000" h="533400">
                  <a:moveTo>
                    <a:pt x="5334000" y="0"/>
                  </a:moveTo>
                  <a:lnTo>
                    <a:pt x="0" y="0"/>
                  </a:lnTo>
                  <a:lnTo>
                    <a:pt x="0" y="533400"/>
                  </a:lnTo>
                  <a:lnTo>
                    <a:pt x="5334000" y="533400"/>
                  </a:lnTo>
                  <a:lnTo>
                    <a:pt x="5334000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447799" y="5638799"/>
              <a:ext cx="5334000" cy="533400"/>
            </a:xfrm>
            <a:custGeom>
              <a:avLst/>
              <a:gdLst/>
              <a:ahLst/>
              <a:cxnLst/>
              <a:rect l="l" t="t" r="r" b="b"/>
              <a:pathLst>
                <a:path w="5334000" h="533400">
                  <a:moveTo>
                    <a:pt x="0" y="533400"/>
                  </a:moveTo>
                  <a:lnTo>
                    <a:pt x="5334000" y="533400"/>
                  </a:lnTo>
                  <a:lnTo>
                    <a:pt x="5334000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447800" y="5638800"/>
            <a:ext cx="5334000" cy="533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Output: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Strings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equal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14</a:t>
            </a:fld>
            <a:endParaRPr spc="-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74447"/>
            <a:ext cx="38569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0178"/>
            <a:ext cx="8070850" cy="4295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tabLst>
                <a:tab pos="1837055" algn="l"/>
                <a:tab pos="2136775" algn="l"/>
                <a:tab pos="2980055" algn="l"/>
                <a:tab pos="3263900" algn="l"/>
                <a:tab pos="3870325" algn="l"/>
                <a:tab pos="4746625" algn="l"/>
                <a:tab pos="5624830" algn="l"/>
                <a:tab pos="6297295" algn="l"/>
                <a:tab pos="6853555" algn="l"/>
              </a:tabLst>
            </a:pPr>
            <a:r>
              <a:rPr sz="2400" b="1" spc="-5" dirty="0">
                <a:latin typeface="Arial"/>
                <a:cs typeface="Arial"/>
              </a:rPr>
              <a:t>starts</a:t>
            </a:r>
            <a:r>
              <a:rPr sz="2400" b="1" spc="-25" dirty="0">
                <a:latin typeface="Arial"/>
                <a:cs typeface="Arial"/>
              </a:rPr>
              <a:t>W</a:t>
            </a:r>
            <a:r>
              <a:rPr sz="2400" b="1" dirty="0">
                <a:latin typeface="Arial"/>
                <a:cs typeface="Arial"/>
              </a:rPr>
              <a:t>i</a:t>
            </a:r>
            <a:r>
              <a:rPr sz="2400" b="1" spc="5" dirty="0">
                <a:latin typeface="Arial"/>
                <a:cs typeface="Arial"/>
              </a:rPr>
              <a:t>t</a:t>
            </a:r>
            <a:r>
              <a:rPr sz="2400" b="1" spc="-15" dirty="0">
                <a:latin typeface="Arial"/>
                <a:cs typeface="Arial"/>
              </a:rPr>
              <a:t>h</a:t>
            </a:r>
            <a:r>
              <a:rPr sz="2400" b="1" dirty="0">
                <a:latin typeface="Arial"/>
                <a:cs typeface="Arial"/>
              </a:rPr>
              <a:t>()	</a:t>
            </a:r>
            <a:r>
              <a:rPr sz="2400" dirty="0">
                <a:latin typeface="Arial MT"/>
                <a:cs typeface="Arial MT"/>
              </a:rPr>
              <a:t>–	</a:t>
            </a:r>
            <a:r>
              <a:rPr sz="2400" spc="-265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ests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f	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	s</a:t>
            </a:r>
            <a:r>
              <a:rPr sz="2400" spc="-10" dirty="0">
                <a:latin typeface="Arial MT"/>
                <a:cs typeface="Arial MT"/>
              </a:rPr>
              <a:t>t</a:t>
            </a:r>
            <a:r>
              <a:rPr sz="2400" spc="-5" dirty="0">
                <a:latin typeface="Arial MT"/>
                <a:cs typeface="Arial MT"/>
              </a:rPr>
              <a:t>ring</a:t>
            </a:r>
            <a:r>
              <a:rPr sz="2400" dirty="0">
                <a:latin typeface="Arial MT"/>
                <a:cs typeface="Arial MT"/>
              </a:rPr>
              <a:t>	starts	</a:t>
            </a:r>
            <a:r>
              <a:rPr sz="2400" spc="-5" dirty="0">
                <a:latin typeface="Arial MT"/>
                <a:cs typeface="Arial MT"/>
              </a:rPr>
              <a:t>w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th	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spec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fi</a:t>
            </a:r>
            <a:r>
              <a:rPr sz="2400" spc="1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d  prefix.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05"/>
              </a:spcBef>
            </a:pPr>
            <a:r>
              <a:rPr sz="2000" spc="-5" dirty="0">
                <a:latin typeface="Courier New"/>
                <a:cs typeface="Courier New"/>
              </a:rPr>
              <a:t>public boolean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startsWith</a:t>
            </a:r>
            <a:r>
              <a:rPr sz="2000" spc="-5" dirty="0">
                <a:latin typeface="Courier New"/>
                <a:cs typeface="Courier New"/>
              </a:rPr>
              <a:t>(String prefix)</a:t>
            </a:r>
            <a:endParaRPr sz="2000">
              <a:latin typeface="Courier New"/>
              <a:cs typeface="Courier New"/>
            </a:endParaRPr>
          </a:p>
          <a:p>
            <a:pPr marL="756285" marR="996950" indent="-287020">
              <a:lnSpc>
                <a:spcPct val="100000"/>
              </a:lnSpc>
              <a:spcBef>
                <a:spcPts val="580"/>
              </a:spcBef>
            </a:pPr>
            <a:r>
              <a:rPr sz="2800" spc="-10" dirty="0">
                <a:latin typeface="Courier New"/>
                <a:cs typeface="Courier New"/>
              </a:rPr>
              <a:t>"January".startsWith("Jan"); //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true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950">
              <a:latin typeface="Courier New"/>
              <a:cs typeface="Courier New"/>
            </a:endParaRPr>
          </a:p>
          <a:p>
            <a:pPr marL="243840" marR="5080" indent="-231775">
              <a:lnSpc>
                <a:spcPct val="113300"/>
              </a:lnSpc>
              <a:tabLst>
                <a:tab pos="1745614" algn="l"/>
                <a:tab pos="2009139" algn="l"/>
                <a:tab pos="2882900" algn="l"/>
                <a:tab pos="3195320" algn="l"/>
                <a:tab pos="3832225" algn="l"/>
                <a:tab pos="4740910" algn="l"/>
                <a:tab pos="5563870" algn="l"/>
                <a:tab pos="6268085" algn="l"/>
                <a:tab pos="6854825" algn="l"/>
              </a:tabLst>
            </a:pPr>
            <a:r>
              <a:rPr sz="2400" b="1" dirty="0">
                <a:latin typeface="Arial"/>
                <a:cs typeface="Arial"/>
              </a:rPr>
              <a:t>en</a:t>
            </a:r>
            <a:r>
              <a:rPr sz="2400" b="1" spc="-10" dirty="0">
                <a:latin typeface="Arial"/>
                <a:cs typeface="Arial"/>
              </a:rPr>
              <a:t>d</a:t>
            </a:r>
            <a:r>
              <a:rPr sz="2400" b="1" dirty="0">
                <a:latin typeface="Arial"/>
                <a:cs typeface="Arial"/>
              </a:rPr>
              <a:t>s</a:t>
            </a:r>
            <a:r>
              <a:rPr sz="2400" b="1" spc="-25" dirty="0">
                <a:latin typeface="Arial"/>
                <a:cs typeface="Arial"/>
              </a:rPr>
              <a:t>W</a:t>
            </a:r>
            <a:r>
              <a:rPr sz="2400" b="1" dirty="0">
                <a:latin typeface="Arial"/>
                <a:cs typeface="Arial"/>
              </a:rPr>
              <a:t>i</a:t>
            </a:r>
            <a:r>
              <a:rPr sz="2400" b="1" spc="5" dirty="0">
                <a:latin typeface="Arial"/>
                <a:cs typeface="Arial"/>
              </a:rPr>
              <a:t>t</a:t>
            </a:r>
            <a:r>
              <a:rPr sz="2400" b="1" dirty="0">
                <a:latin typeface="Arial"/>
                <a:cs typeface="Arial"/>
              </a:rPr>
              <a:t>h</a:t>
            </a:r>
            <a:r>
              <a:rPr sz="2400" b="1" spc="-10" dirty="0">
                <a:latin typeface="Arial"/>
                <a:cs typeface="Arial"/>
              </a:rPr>
              <a:t>(</a:t>
            </a:r>
            <a:r>
              <a:rPr sz="2400" b="1" dirty="0">
                <a:latin typeface="Arial"/>
                <a:cs typeface="Arial"/>
              </a:rPr>
              <a:t>)	-	</a:t>
            </a:r>
            <a:r>
              <a:rPr sz="2400" spc="-270" dirty="0">
                <a:latin typeface="Arial MT"/>
                <a:cs typeface="Arial MT"/>
              </a:rPr>
              <a:t>T</a:t>
            </a:r>
            <a:r>
              <a:rPr sz="2400" dirty="0">
                <a:latin typeface="Arial MT"/>
                <a:cs typeface="Arial MT"/>
              </a:rPr>
              <a:t>ests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f	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	st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spc="-5" dirty="0">
                <a:latin typeface="Arial MT"/>
                <a:cs typeface="Arial MT"/>
              </a:rPr>
              <a:t>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end</a:t>
            </a:r>
            <a:r>
              <a:rPr sz="2400" spc="-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w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th	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spec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spc="-5" dirty="0">
                <a:latin typeface="Arial MT"/>
                <a:cs typeface="Arial MT"/>
              </a:rPr>
              <a:t>fi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d  </a:t>
            </a:r>
            <a:r>
              <a:rPr sz="2400" spc="-10" dirty="0">
                <a:latin typeface="Arial MT"/>
                <a:cs typeface="Arial MT"/>
              </a:rPr>
              <a:t>suffix.</a:t>
            </a:r>
            <a:endParaRPr sz="240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1755"/>
              </a:spcBef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-1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boolean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b="1" spc="-10" dirty="0">
                <a:latin typeface="Courier New"/>
                <a:cs typeface="Courier New"/>
              </a:rPr>
              <a:t>endsWith</a:t>
            </a:r>
            <a:r>
              <a:rPr sz="1800" spc="-10" dirty="0">
                <a:latin typeface="Courier New"/>
                <a:cs typeface="Courier New"/>
              </a:rPr>
              <a:t>(String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suffix)</a:t>
            </a:r>
            <a:endParaRPr sz="18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  <a:spcBef>
                <a:spcPts val="520"/>
              </a:spcBef>
            </a:pPr>
            <a:r>
              <a:rPr sz="2000" spc="-5" dirty="0">
                <a:latin typeface="Courier New"/>
                <a:cs typeface="Courier New"/>
              </a:rPr>
              <a:t>"January".endsWith("ry");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// true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8" y="154304"/>
            <a:ext cx="5528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16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477418" y="1024254"/>
            <a:ext cx="8201025" cy="4921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8255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3840" algn="l"/>
                <a:tab pos="244475" algn="l"/>
              </a:tabLst>
            </a:pPr>
            <a:r>
              <a:rPr sz="2200" b="1" spc="-15" dirty="0">
                <a:latin typeface="Arial"/>
                <a:cs typeface="Arial"/>
              </a:rPr>
              <a:t>compareTo()</a:t>
            </a:r>
            <a:r>
              <a:rPr sz="2200" b="1" spc="165" dirty="0">
                <a:latin typeface="Arial"/>
                <a:cs typeface="Arial"/>
              </a:rPr>
              <a:t> </a:t>
            </a:r>
            <a:r>
              <a:rPr sz="2200" spc="-5" dirty="0">
                <a:latin typeface="Arial MT"/>
                <a:cs typeface="Arial MT"/>
              </a:rPr>
              <a:t>-</a:t>
            </a:r>
            <a:r>
              <a:rPr sz="2200" spc="1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Compares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two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strings</a:t>
            </a:r>
            <a:r>
              <a:rPr sz="2200" spc="1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1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1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know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which</a:t>
            </a:r>
            <a:r>
              <a:rPr sz="2200" spc="15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bigger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smaller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25" dirty="0">
                <a:latin typeface="Arial MT"/>
                <a:cs typeface="Arial MT"/>
              </a:rPr>
              <a:t>We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will</a:t>
            </a:r>
            <a:r>
              <a:rPr sz="2200" spc="38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get</a:t>
            </a:r>
            <a:r>
              <a:rPr sz="2200" spc="3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negative</a:t>
            </a:r>
            <a:r>
              <a:rPr sz="2200" spc="38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integer,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38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</a:t>
            </a:r>
            <a:r>
              <a:rPr sz="2200" spc="3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</a:t>
            </a:r>
            <a:r>
              <a:rPr sz="2200" spc="38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37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less</a:t>
            </a:r>
            <a:endParaRPr sz="22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2200" spc="-5" dirty="0">
                <a:latin typeface="Arial MT"/>
                <a:cs typeface="Arial MT"/>
              </a:rPr>
              <a:t>than the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argument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</a:t>
            </a:r>
            <a:endParaRPr sz="2200">
              <a:latin typeface="Arial MT"/>
              <a:cs typeface="Arial MT"/>
            </a:endParaRPr>
          </a:p>
          <a:p>
            <a:pPr marL="756285" marR="69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25" dirty="0">
                <a:latin typeface="Arial MT"/>
                <a:cs typeface="Arial MT"/>
              </a:rPr>
              <a:t>We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will</a:t>
            </a:r>
            <a:r>
              <a:rPr sz="2200" spc="2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get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2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positive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integer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2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object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2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greater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than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argument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string.</a:t>
            </a:r>
            <a:endParaRPr sz="22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25" dirty="0">
                <a:latin typeface="Arial MT"/>
                <a:cs typeface="Arial MT"/>
              </a:rPr>
              <a:t>We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will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get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return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value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0(zero),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these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strings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equal.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750">
              <a:latin typeface="Arial MT"/>
              <a:cs typeface="Arial MT"/>
            </a:endParaRPr>
          </a:p>
          <a:p>
            <a:pPr marL="243840" marR="2449830">
              <a:lnSpc>
                <a:spcPct val="120000"/>
              </a:lnSpc>
            </a:pPr>
            <a:r>
              <a:rPr sz="2200" spc="-5" dirty="0">
                <a:latin typeface="Arial MT"/>
                <a:cs typeface="Arial MT"/>
              </a:rPr>
              <a:t>public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b="1" spc="-15" dirty="0">
                <a:latin typeface="Arial"/>
                <a:cs typeface="Arial"/>
              </a:rPr>
              <a:t>compareTo</a:t>
            </a:r>
            <a:r>
              <a:rPr sz="2200" spc="-15" dirty="0">
                <a:latin typeface="Arial MT"/>
                <a:cs typeface="Arial MT"/>
              </a:rPr>
              <a:t>(String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anotherString)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public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compareToIgnoreCase</a:t>
            </a:r>
            <a:r>
              <a:rPr sz="2200" spc="-10" dirty="0">
                <a:latin typeface="Arial MT"/>
                <a:cs typeface="Arial MT"/>
              </a:rPr>
              <a:t>(String</a:t>
            </a:r>
            <a:r>
              <a:rPr sz="2200" spc="7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str)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Arial MT"/>
              <a:cs typeface="Arial MT"/>
            </a:endParaRPr>
          </a:p>
          <a:p>
            <a:pPr marL="243840" marR="5715" indent="-231775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method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is</a:t>
            </a:r>
            <a:r>
              <a:rPr sz="2200" spc="2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similar</a:t>
            </a:r>
            <a:r>
              <a:rPr sz="2200" spc="29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</a:t>
            </a:r>
            <a:r>
              <a:rPr sz="2200" spc="29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compareTo()</a:t>
            </a:r>
            <a:r>
              <a:rPr sz="2200" spc="3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method</a:t>
            </a:r>
            <a:r>
              <a:rPr sz="2200" spc="3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but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does</a:t>
            </a:r>
            <a:r>
              <a:rPr sz="2200" spc="3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take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case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into </a:t>
            </a:r>
            <a:r>
              <a:rPr sz="2200" dirty="0">
                <a:latin typeface="Arial MT"/>
                <a:cs typeface="Arial MT"/>
              </a:rPr>
              <a:t>consideration.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982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36649"/>
            <a:ext cx="8074025" cy="4787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510"/>
              </a:lnSpc>
              <a:spcBef>
                <a:spcPts val="95"/>
              </a:spcBef>
              <a:tabLst>
                <a:tab pos="1184275" algn="l"/>
                <a:tab pos="1472565" algn="l"/>
                <a:tab pos="2785110" algn="l"/>
                <a:tab pos="3242310" algn="l"/>
                <a:tab pos="3761740" algn="l"/>
                <a:tab pos="4344670" algn="l"/>
                <a:tab pos="5859145" algn="l"/>
                <a:tab pos="6223635" algn="l"/>
                <a:tab pos="6510655" algn="l"/>
                <a:tab pos="7807325" algn="l"/>
              </a:tabLst>
            </a:pPr>
            <a:r>
              <a:rPr sz="2200" b="1" spc="-5" dirty="0">
                <a:latin typeface="Arial"/>
                <a:cs typeface="Arial"/>
              </a:rPr>
              <a:t>ind</a:t>
            </a:r>
            <a:r>
              <a:rPr sz="2200" b="1" dirty="0">
                <a:latin typeface="Arial"/>
                <a:cs typeface="Arial"/>
              </a:rPr>
              <a:t>e</a:t>
            </a:r>
            <a:r>
              <a:rPr sz="2200" b="1" spc="5" dirty="0">
                <a:latin typeface="Arial"/>
                <a:cs typeface="Arial"/>
              </a:rPr>
              <a:t>x</a:t>
            </a:r>
            <a:r>
              <a:rPr sz="2200" b="1" spc="-5" dirty="0">
                <a:latin typeface="Arial"/>
                <a:cs typeface="Arial"/>
              </a:rPr>
              <a:t>Of</a:t>
            </a:r>
            <a:r>
              <a:rPr sz="2200" b="1" dirty="0">
                <a:latin typeface="Arial"/>
                <a:cs typeface="Arial"/>
              </a:rPr>
              <a:t>	</a:t>
            </a:r>
            <a:r>
              <a:rPr sz="2200" b="1" spc="-5" dirty="0">
                <a:latin typeface="Arial"/>
                <a:cs typeface="Arial"/>
              </a:rPr>
              <a:t>–</a:t>
            </a:r>
            <a:r>
              <a:rPr sz="2200" b="1" dirty="0">
                <a:latin typeface="Arial"/>
                <a:cs typeface="Arial"/>
              </a:rPr>
              <a:t>	</a:t>
            </a:r>
            <a:r>
              <a:rPr sz="2200" spc="-5" dirty="0">
                <a:latin typeface="Arial MT"/>
                <a:cs typeface="Arial MT"/>
              </a:rPr>
              <a:t>Sear</a:t>
            </a:r>
            <a:r>
              <a:rPr sz="2200" dirty="0">
                <a:latin typeface="Arial MT"/>
                <a:cs typeface="Arial MT"/>
              </a:rPr>
              <a:t>c</a:t>
            </a:r>
            <a:r>
              <a:rPr sz="2200" spc="-5" dirty="0">
                <a:latin typeface="Arial MT"/>
                <a:cs typeface="Arial MT"/>
              </a:rPr>
              <a:t>hes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first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o</a:t>
            </a:r>
            <a:r>
              <a:rPr sz="2200" dirty="0">
                <a:latin typeface="Arial MT"/>
                <a:cs typeface="Arial MT"/>
              </a:rPr>
              <a:t>c</a:t>
            </a:r>
            <a:r>
              <a:rPr sz="2200" spc="-5" dirty="0">
                <a:latin typeface="Arial MT"/>
                <a:cs typeface="Arial MT"/>
              </a:rPr>
              <a:t>c</a:t>
            </a:r>
            <a:r>
              <a:rPr sz="2200" dirty="0">
                <a:latin typeface="Arial MT"/>
                <a:cs typeface="Arial MT"/>
              </a:rPr>
              <a:t>u</a:t>
            </a:r>
            <a:r>
              <a:rPr sz="2200" spc="-5" dirty="0">
                <a:latin typeface="Arial MT"/>
                <a:cs typeface="Arial MT"/>
              </a:rPr>
              <a:t>rrence</a:t>
            </a:r>
            <a:r>
              <a:rPr sz="2200" dirty="0">
                <a:latin typeface="Arial MT"/>
                <a:cs typeface="Arial MT"/>
              </a:rPr>
              <a:t>	o</a:t>
            </a:r>
            <a:r>
              <a:rPr sz="2200" spc="-5" dirty="0">
                <a:latin typeface="Arial MT"/>
                <a:cs typeface="Arial MT"/>
              </a:rPr>
              <a:t>f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a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5" dirty="0">
                <a:latin typeface="Arial MT"/>
                <a:cs typeface="Arial MT"/>
              </a:rPr>
              <a:t>c</a:t>
            </a:r>
            <a:r>
              <a:rPr sz="2200" dirty="0">
                <a:latin typeface="Arial MT"/>
                <a:cs typeface="Arial MT"/>
              </a:rPr>
              <a:t>h</a:t>
            </a:r>
            <a:r>
              <a:rPr sz="2200" spc="-5" dirty="0">
                <a:latin typeface="Arial MT"/>
                <a:cs typeface="Arial MT"/>
              </a:rPr>
              <a:t>aracter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10" dirty="0">
                <a:latin typeface="Arial MT"/>
                <a:cs typeface="Arial MT"/>
              </a:rPr>
              <a:t>or</a:t>
            </a:r>
            <a:endParaRPr sz="2200">
              <a:latin typeface="Arial MT"/>
              <a:cs typeface="Arial MT"/>
            </a:endParaRPr>
          </a:p>
          <a:p>
            <a:pPr marL="243840" algn="just">
              <a:lnSpc>
                <a:spcPts val="2510"/>
              </a:lnSpc>
            </a:pPr>
            <a:r>
              <a:rPr sz="2200" dirty="0">
                <a:latin typeface="Arial MT"/>
                <a:cs typeface="Arial MT"/>
              </a:rPr>
              <a:t>substring. </a:t>
            </a:r>
            <a:r>
              <a:rPr sz="2200" spc="-5" dirty="0">
                <a:latin typeface="Arial MT"/>
                <a:cs typeface="Arial MT"/>
              </a:rPr>
              <a:t>Returns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-1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if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character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does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not</a:t>
            </a:r>
            <a:r>
              <a:rPr sz="2200" dirty="0">
                <a:latin typeface="Arial MT"/>
                <a:cs typeface="Arial MT"/>
              </a:rPr>
              <a:t> occur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>
              <a:latin typeface="Arial MT"/>
              <a:cs typeface="Arial MT"/>
            </a:endParaRPr>
          </a:p>
          <a:p>
            <a:pPr marL="243840" marR="5080" algn="just">
              <a:lnSpc>
                <a:spcPts val="2380"/>
              </a:lnSpc>
            </a:pPr>
            <a:r>
              <a:rPr sz="2200" dirty="0">
                <a:latin typeface="Arial MT"/>
                <a:cs typeface="Arial MT"/>
              </a:rPr>
              <a:t>public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b="1" dirty="0">
                <a:latin typeface="Arial"/>
                <a:cs typeface="Arial"/>
              </a:rPr>
              <a:t>indexOf</a:t>
            </a:r>
            <a:r>
              <a:rPr sz="2200" dirty="0">
                <a:latin typeface="Arial MT"/>
                <a:cs typeface="Arial MT"/>
              </a:rPr>
              <a:t>(int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ch)-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It</a:t>
            </a:r>
            <a:r>
              <a:rPr sz="2200" dirty="0">
                <a:latin typeface="Arial MT"/>
                <a:cs typeface="Arial MT"/>
              </a:rPr>
              <a:t> searches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for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 character 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represented</a:t>
            </a:r>
            <a:r>
              <a:rPr sz="2200" spc="3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by</a:t>
            </a:r>
            <a:r>
              <a:rPr sz="2200" spc="3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</a:t>
            </a:r>
            <a:r>
              <a:rPr sz="2200" spc="3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within</a:t>
            </a:r>
            <a:r>
              <a:rPr sz="2200" spc="4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3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</a:t>
            </a:r>
            <a:r>
              <a:rPr sz="2200" spc="3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3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returns</a:t>
            </a:r>
            <a:r>
              <a:rPr sz="2200" spc="4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the</a:t>
            </a:r>
            <a:r>
              <a:rPr sz="2200" spc="3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index</a:t>
            </a:r>
            <a:r>
              <a:rPr sz="2200" spc="409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first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occurrence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of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character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950">
              <a:latin typeface="Arial MT"/>
              <a:cs typeface="Arial MT"/>
            </a:endParaRPr>
          </a:p>
          <a:p>
            <a:pPr marL="243840" marR="8255" indent="-231775" algn="just">
              <a:lnSpc>
                <a:spcPct val="100000"/>
              </a:lnSpc>
              <a:buFont typeface="Arial MT"/>
              <a:buChar char="•"/>
              <a:tabLst>
                <a:tab pos="470534" algn="l"/>
              </a:tabLst>
            </a:pPr>
            <a:r>
              <a:rPr dirty="0"/>
              <a:t>	</a:t>
            </a:r>
            <a:r>
              <a:rPr sz="2200" spc="-5" dirty="0">
                <a:latin typeface="Arial MT"/>
                <a:cs typeface="Arial MT"/>
              </a:rPr>
              <a:t>public int </a:t>
            </a:r>
            <a:r>
              <a:rPr sz="2200" b="1" spc="-5" dirty="0">
                <a:latin typeface="Arial"/>
                <a:cs typeface="Arial"/>
              </a:rPr>
              <a:t>indexOf</a:t>
            </a:r>
            <a:r>
              <a:rPr sz="2200" spc="-5" dirty="0">
                <a:latin typeface="Arial MT"/>
                <a:cs typeface="Arial MT"/>
              </a:rPr>
              <a:t>(String str) - It </a:t>
            </a:r>
            <a:r>
              <a:rPr sz="2200" dirty="0">
                <a:latin typeface="Arial MT"/>
                <a:cs typeface="Arial MT"/>
              </a:rPr>
              <a:t>searches </a:t>
            </a:r>
            <a:r>
              <a:rPr sz="2200" spc="-5" dirty="0">
                <a:latin typeface="Arial MT"/>
                <a:cs typeface="Arial MT"/>
              </a:rPr>
              <a:t>for the substring </a:t>
            </a:r>
            <a:r>
              <a:rPr sz="2200" dirty="0">
                <a:latin typeface="Arial MT"/>
                <a:cs typeface="Arial MT"/>
              </a:rPr>
              <a:t> specified </a:t>
            </a:r>
            <a:r>
              <a:rPr sz="2200" spc="-5" dirty="0">
                <a:latin typeface="Arial MT"/>
                <a:cs typeface="Arial MT"/>
              </a:rPr>
              <a:t>by str within this string </a:t>
            </a:r>
            <a:r>
              <a:rPr sz="2200" spc="-10" dirty="0">
                <a:latin typeface="Arial MT"/>
                <a:cs typeface="Arial MT"/>
              </a:rPr>
              <a:t>and </a:t>
            </a:r>
            <a:r>
              <a:rPr sz="2200" spc="-5" dirty="0">
                <a:latin typeface="Arial MT"/>
                <a:cs typeface="Arial MT"/>
              </a:rPr>
              <a:t>returns </a:t>
            </a:r>
            <a:r>
              <a:rPr sz="2200" dirty="0">
                <a:latin typeface="Arial MT"/>
                <a:cs typeface="Arial MT"/>
              </a:rPr>
              <a:t>the </a:t>
            </a:r>
            <a:r>
              <a:rPr sz="2200" spc="-5" dirty="0">
                <a:latin typeface="Arial MT"/>
                <a:cs typeface="Arial MT"/>
              </a:rPr>
              <a:t>index of first </a:t>
            </a:r>
            <a:r>
              <a:rPr sz="2200" dirty="0">
                <a:latin typeface="Arial MT"/>
                <a:cs typeface="Arial MT"/>
              </a:rPr>
              <a:t> occurrence</a:t>
            </a:r>
            <a:r>
              <a:rPr sz="2200" spc="-5" dirty="0">
                <a:latin typeface="Arial MT"/>
                <a:cs typeface="Arial MT"/>
              </a:rPr>
              <a:t> of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this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substring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>
              <a:latin typeface="Arial MT"/>
              <a:cs typeface="Arial MT"/>
            </a:endParaRPr>
          </a:p>
          <a:p>
            <a:pPr marL="243840" marR="2915920">
              <a:lnSpc>
                <a:spcPts val="2380"/>
              </a:lnSpc>
            </a:pPr>
            <a:r>
              <a:rPr sz="2200" spc="-5" dirty="0">
                <a:latin typeface="Arial MT"/>
                <a:cs typeface="Arial MT"/>
              </a:rPr>
              <a:t>String</a:t>
            </a:r>
            <a:r>
              <a:rPr sz="2200" dirty="0">
                <a:latin typeface="Arial MT"/>
                <a:cs typeface="Arial MT"/>
              </a:rPr>
              <a:t> str </a:t>
            </a:r>
            <a:r>
              <a:rPr sz="2200" spc="-5" dirty="0">
                <a:latin typeface="Arial MT"/>
                <a:cs typeface="Arial MT"/>
              </a:rPr>
              <a:t>=</a:t>
            </a:r>
            <a:r>
              <a:rPr sz="2200" spc="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“How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was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your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day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today?”;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str.indexof(‘t’);</a:t>
            </a:r>
            <a:endParaRPr sz="2200">
              <a:latin typeface="Arial MT"/>
              <a:cs typeface="Arial MT"/>
            </a:endParaRPr>
          </a:p>
          <a:p>
            <a:pPr marL="243840">
              <a:lnSpc>
                <a:spcPts val="2335"/>
              </a:lnSpc>
            </a:pPr>
            <a:r>
              <a:rPr sz="2200" spc="-5" dirty="0">
                <a:latin typeface="Arial MT"/>
                <a:cs typeface="Arial MT"/>
              </a:rPr>
              <a:t>str(“was”);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744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37583"/>
            <a:ext cx="8073390" cy="3884929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43840" marR="5080" indent="-231775" algn="just">
              <a:lnSpc>
                <a:spcPct val="101899"/>
              </a:lnSpc>
              <a:spcBef>
                <a:spcPts val="180"/>
              </a:spcBef>
            </a:pPr>
            <a:r>
              <a:rPr sz="2000" spc="-5" dirty="0">
                <a:latin typeface="Courier New"/>
                <a:cs typeface="Courier New"/>
              </a:rPr>
              <a:t>public int </a:t>
            </a:r>
            <a:r>
              <a:rPr sz="2000" b="1" spc="-5" dirty="0">
                <a:latin typeface="Courier New"/>
                <a:cs typeface="Courier New"/>
              </a:rPr>
              <a:t>indexOf</a:t>
            </a:r>
            <a:r>
              <a:rPr sz="2000" spc="-5" dirty="0">
                <a:latin typeface="Courier New"/>
                <a:cs typeface="Courier New"/>
              </a:rPr>
              <a:t>(int ch, </a:t>
            </a:r>
            <a:r>
              <a:rPr sz="2000" dirty="0">
                <a:latin typeface="Courier New"/>
                <a:cs typeface="Courier New"/>
              </a:rPr>
              <a:t>int </a:t>
            </a:r>
            <a:r>
              <a:rPr sz="2000" spc="-5" dirty="0">
                <a:latin typeface="Courier New"/>
                <a:cs typeface="Courier New"/>
              </a:rPr>
              <a:t>fromIndex)-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It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 searches </a:t>
            </a:r>
            <a:r>
              <a:rPr sz="20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for the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character represented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by </a:t>
            </a:r>
            <a:r>
              <a:rPr sz="2000" spc="5" dirty="0">
                <a:solidFill>
                  <a:srgbClr val="585858"/>
                </a:solidFill>
                <a:latin typeface="Arial MT"/>
                <a:cs typeface="Arial MT"/>
              </a:rPr>
              <a:t>ch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within this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string and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returns the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 index of first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occurrence 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of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this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character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starting 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from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the </a:t>
            </a:r>
            <a:r>
              <a:rPr sz="2000" spc="-5" dirty="0">
                <a:solidFill>
                  <a:srgbClr val="585858"/>
                </a:solidFill>
                <a:latin typeface="Arial MT"/>
                <a:cs typeface="Arial MT"/>
              </a:rPr>
              <a:t>position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 specified</a:t>
            </a:r>
            <a:r>
              <a:rPr sz="2000" spc="-3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by</a:t>
            </a:r>
            <a:r>
              <a:rPr sz="20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585858"/>
                </a:solidFill>
                <a:latin typeface="Arial MT"/>
                <a:cs typeface="Arial MT"/>
              </a:rPr>
              <a:t>fromIndex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50">
              <a:latin typeface="Arial MT"/>
              <a:cs typeface="Arial MT"/>
            </a:endParaRPr>
          </a:p>
          <a:p>
            <a:pPr marL="243840" marR="5715" indent="-231775" algn="just">
              <a:lnSpc>
                <a:spcPct val="102800"/>
              </a:lnSpc>
            </a:pPr>
            <a:r>
              <a:rPr sz="2000" spc="-5" dirty="0">
                <a:latin typeface="Courier New"/>
                <a:cs typeface="Courier New"/>
              </a:rPr>
              <a:t>public int </a:t>
            </a:r>
            <a:r>
              <a:rPr sz="2000" b="1" spc="-5" dirty="0">
                <a:latin typeface="Courier New"/>
                <a:cs typeface="Courier New"/>
              </a:rPr>
              <a:t>indexOf</a:t>
            </a:r>
            <a:r>
              <a:rPr sz="2000" spc="-5" dirty="0">
                <a:latin typeface="Courier New"/>
                <a:cs typeface="Courier New"/>
              </a:rPr>
              <a:t>(String str, int fromIndex) </a:t>
            </a:r>
            <a:r>
              <a:rPr sz="2000" dirty="0">
                <a:latin typeface="Arial MT"/>
                <a:cs typeface="Arial MT"/>
              </a:rPr>
              <a:t>- </a:t>
            </a:r>
            <a:r>
              <a:rPr sz="2000" spc="-5" dirty="0">
                <a:latin typeface="Arial MT"/>
                <a:cs typeface="Arial MT"/>
              </a:rPr>
              <a:t>Returns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index </a:t>
            </a:r>
            <a:r>
              <a:rPr sz="2000" spc="-5" dirty="0">
                <a:latin typeface="Arial MT"/>
                <a:cs typeface="Arial MT"/>
              </a:rPr>
              <a:t>within </a:t>
            </a:r>
            <a:r>
              <a:rPr sz="2000" dirty="0">
                <a:latin typeface="Arial MT"/>
                <a:cs typeface="Arial MT"/>
              </a:rPr>
              <a:t>this </a:t>
            </a:r>
            <a:r>
              <a:rPr sz="2000" spc="-5" dirty="0">
                <a:latin typeface="Arial MT"/>
                <a:cs typeface="Arial MT"/>
              </a:rPr>
              <a:t>string </a:t>
            </a:r>
            <a:r>
              <a:rPr sz="2000" dirty="0">
                <a:latin typeface="Arial MT"/>
                <a:cs typeface="Arial MT"/>
              </a:rPr>
              <a:t>of the </a:t>
            </a:r>
            <a:r>
              <a:rPr sz="2000" spc="-5" dirty="0">
                <a:latin typeface="Arial MT"/>
                <a:cs typeface="Arial MT"/>
              </a:rPr>
              <a:t>first occurrence </a:t>
            </a:r>
            <a:r>
              <a:rPr sz="2000" dirty="0">
                <a:latin typeface="Arial MT"/>
                <a:cs typeface="Arial MT"/>
              </a:rPr>
              <a:t>of the specified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substring,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starting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specified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index.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Arial MT"/>
              <a:cs typeface="Arial MT"/>
            </a:endParaRPr>
          </a:p>
          <a:p>
            <a:pPr marL="12700" marR="36004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Arial MT"/>
                <a:cs typeface="Arial MT"/>
              </a:rPr>
              <a:t>String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=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“How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your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today?”;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str.indexof(‘a’,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6);</a:t>
            </a:r>
            <a:endParaRPr sz="200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str(“was”,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2);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54304"/>
            <a:ext cx="5528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19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0178"/>
            <a:ext cx="8074025" cy="3516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lastIndexOf()</a:t>
            </a:r>
            <a:r>
              <a:rPr sz="2400" b="1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–It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searches</a:t>
            </a:r>
            <a:r>
              <a:rPr sz="2400" dirty="0">
                <a:latin typeface="Arial MT"/>
                <a:cs typeface="Arial MT"/>
              </a:rPr>
              <a:t> for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last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occurrence</a:t>
            </a:r>
            <a:r>
              <a:rPr sz="2400" dirty="0">
                <a:latin typeface="Arial MT"/>
                <a:cs typeface="Arial MT"/>
              </a:rPr>
              <a:t> of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 </a:t>
            </a:r>
            <a:r>
              <a:rPr sz="2400" dirty="0">
                <a:latin typeface="Arial MT"/>
                <a:cs typeface="Arial MT"/>
              </a:rPr>
              <a:t> particular </a:t>
            </a:r>
            <a:r>
              <a:rPr sz="2400" spc="-5" dirty="0">
                <a:latin typeface="Arial MT"/>
                <a:cs typeface="Arial MT"/>
              </a:rPr>
              <a:t>character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 substring</a:t>
            </a:r>
            <a:endParaRPr sz="2400">
              <a:latin typeface="Arial MT"/>
              <a:cs typeface="Arial MT"/>
            </a:endParaRPr>
          </a:p>
          <a:p>
            <a:pPr marL="243840" marR="6350" indent="-231775" algn="just">
              <a:lnSpc>
                <a:spcPct val="100000"/>
              </a:lnSpc>
              <a:spcBef>
                <a:spcPts val="2014"/>
              </a:spcBef>
            </a:pPr>
            <a:r>
              <a:rPr sz="2400" b="1" spc="-5" dirty="0">
                <a:latin typeface="Arial"/>
                <a:cs typeface="Arial"/>
              </a:rPr>
              <a:t>substring() </a:t>
            </a:r>
            <a:r>
              <a:rPr sz="2400" dirty="0">
                <a:latin typeface="Arial MT"/>
                <a:cs typeface="Arial MT"/>
              </a:rPr>
              <a:t>- </a:t>
            </a:r>
            <a:r>
              <a:rPr sz="2400" spc="-5" dirty="0">
                <a:latin typeface="Arial MT"/>
                <a:cs typeface="Arial MT"/>
              </a:rPr>
              <a:t>This method </a:t>
            </a:r>
            <a:r>
              <a:rPr sz="2400" dirty="0">
                <a:latin typeface="Arial MT"/>
                <a:cs typeface="Arial MT"/>
              </a:rPr>
              <a:t>returns </a:t>
            </a:r>
            <a:r>
              <a:rPr sz="2400" spc="-5" dirty="0">
                <a:latin typeface="Arial MT"/>
                <a:cs typeface="Arial MT"/>
              </a:rPr>
              <a:t>a new string </a:t>
            </a:r>
            <a:r>
              <a:rPr sz="2400" dirty="0">
                <a:latin typeface="Arial MT"/>
                <a:cs typeface="Arial MT"/>
              </a:rPr>
              <a:t>which </a:t>
            </a:r>
            <a:r>
              <a:rPr sz="2400" spc="-10" dirty="0">
                <a:latin typeface="Arial MT"/>
                <a:cs typeface="Arial MT"/>
              </a:rPr>
              <a:t>is 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actually </a:t>
            </a:r>
            <a:r>
              <a:rPr sz="2400" spc="-5" dirty="0">
                <a:latin typeface="Arial MT"/>
                <a:cs typeface="Arial MT"/>
              </a:rPr>
              <a:t>a substring </a:t>
            </a:r>
            <a:r>
              <a:rPr sz="2400" dirty="0">
                <a:latin typeface="Arial MT"/>
                <a:cs typeface="Arial MT"/>
              </a:rPr>
              <a:t>of this </a:t>
            </a:r>
            <a:r>
              <a:rPr sz="2400" spc="-5" dirty="0">
                <a:latin typeface="Arial MT"/>
                <a:cs typeface="Arial MT"/>
              </a:rPr>
              <a:t>string. </a:t>
            </a:r>
            <a:r>
              <a:rPr sz="2400" dirty="0">
                <a:latin typeface="Arial MT"/>
                <a:cs typeface="Arial MT"/>
              </a:rPr>
              <a:t>It </a:t>
            </a:r>
            <a:r>
              <a:rPr sz="2400" spc="-5" dirty="0">
                <a:latin typeface="Arial MT"/>
                <a:cs typeface="Arial MT"/>
              </a:rPr>
              <a:t>extracts characters </a:t>
            </a:r>
            <a:r>
              <a:rPr sz="2400" dirty="0">
                <a:latin typeface="Arial MT"/>
                <a:cs typeface="Arial MT"/>
              </a:rPr>
              <a:t> starting </a:t>
            </a:r>
            <a:r>
              <a:rPr sz="2400" spc="-5" dirty="0">
                <a:latin typeface="Arial MT"/>
                <a:cs typeface="Arial MT"/>
              </a:rPr>
              <a:t>from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specified </a:t>
            </a:r>
            <a:r>
              <a:rPr sz="2400" dirty="0">
                <a:latin typeface="Arial MT"/>
                <a:cs typeface="Arial MT"/>
              </a:rPr>
              <a:t>index all the </a:t>
            </a:r>
            <a:r>
              <a:rPr sz="2400" spc="-5" dirty="0">
                <a:latin typeface="Arial MT"/>
                <a:cs typeface="Arial MT"/>
              </a:rPr>
              <a:t>way </a:t>
            </a:r>
            <a:r>
              <a:rPr sz="2400" dirty="0">
                <a:latin typeface="Arial MT"/>
                <a:cs typeface="Arial MT"/>
              </a:rPr>
              <a:t>till the </a:t>
            </a:r>
            <a:r>
              <a:rPr sz="2400" spc="-5" dirty="0">
                <a:latin typeface="Arial MT"/>
                <a:cs typeface="Arial MT"/>
              </a:rPr>
              <a:t>end of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endParaRPr sz="2400">
              <a:latin typeface="Arial MT"/>
              <a:cs typeface="Arial MT"/>
            </a:endParaRPr>
          </a:p>
          <a:p>
            <a:pPr marL="95885" algn="just">
              <a:lnSpc>
                <a:spcPct val="100000"/>
              </a:lnSpc>
              <a:spcBef>
                <a:spcPts val="1850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String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substring</a:t>
            </a:r>
            <a:r>
              <a:rPr sz="2400" spc="-5" dirty="0">
                <a:latin typeface="Courier New"/>
                <a:cs typeface="Courier New"/>
              </a:rPr>
              <a:t>(int</a:t>
            </a:r>
            <a:r>
              <a:rPr sz="2400" spc="-6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beginIndex)</a:t>
            </a:r>
            <a:endParaRPr sz="2400">
              <a:latin typeface="Courier New"/>
              <a:cs typeface="Courier New"/>
            </a:endParaRPr>
          </a:p>
          <a:p>
            <a:pPr marL="95885" algn="just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Arial MT"/>
                <a:cs typeface="Arial MT"/>
              </a:rPr>
              <a:t>Eg: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"unhappy".substring(2)</a:t>
            </a:r>
            <a:r>
              <a:rPr sz="2400" spc="-5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returns</a:t>
            </a:r>
            <a:r>
              <a:rPr sz="2400" spc="-4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"happy"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982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36649"/>
            <a:ext cx="7684770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2112645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</a:tabLst>
            </a:pPr>
            <a:r>
              <a:rPr sz="2800" spc="-10" dirty="0">
                <a:latin typeface="Courier New"/>
                <a:cs typeface="Courier New"/>
              </a:rPr>
              <a:t>public String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b="1" spc="-10" dirty="0">
                <a:latin typeface="Courier New"/>
                <a:cs typeface="Courier New"/>
              </a:rPr>
              <a:t>substring</a:t>
            </a:r>
            <a:r>
              <a:rPr sz="2800" spc="-10" dirty="0">
                <a:latin typeface="Courier New"/>
                <a:cs typeface="Courier New"/>
              </a:rPr>
              <a:t>(int beginIndex,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int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endIndex)</a:t>
            </a:r>
            <a:endParaRPr sz="2800">
              <a:latin typeface="Courier New"/>
              <a:cs typeface="Courier New"/>
            </a:endParaRPr>
          </a:p>
          <a:p>
            <a:pPr marL="243840" marR="5080" indent="-231775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Courier New"/>
                <a:cs typeface="Courier New"/>
              </a:rPr>
              <a:t>Eg: "smiles".substring(1, </a:t>
            </a:r>
            <a:r>
              <a:rPr sz="2800" spc="-5" dirty="0">
                <a:latin typeface="Courier New"/>
                <a:cs typeface="Courier New"/>
              </a:rPr>
              <a:t>5) </a:t>
            </a:r>
            <a:r>
              <a:rPr sz="2800" spc="-10" dirty="0">
                <a:latin typeface="Courier New"/>
                <a:cs typeface="Courier New"/>
              </a:rPr>
              <a:t>returns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"mile“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041" y="982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33602"/>
            <a:ext cx="8071484" cy="18370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3840" marR="5080" indent="-231775">
              <a:lnSpc>
                <a:spcPts val="2590"/>
              </a:lnSpc>
              <a:spcBef>
                <a:spcPts val="425"/>
              </a:spcBef>
            </a:pPr>
            <a:r>
              <a:rPr sz="2400" b="1" spc="-5" dirty="0">
                <a:latin typeface="Arial"/>
                <a:cs typeface="Arial"/>
              </a:rPr>
              <a:t>concat()</a:t>
            </a:r>
            <a:r>
              <a:rPr sz="2400" b="1" spc="30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-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Concatenates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specified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2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end</a:t>
            </a:r>
            <a:r>
              <a:rPr sz="2400" spc="29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>
              <a:latin typeface="Arial MT"/>
              <a:cs typeface="Arial MT"/>
            </a:endParaRPr>
          </a:p>
          <a:p>
            <a:pPr marL="12700" marR="279400">
              <a:lnSpc>
                <a:spcPct val="129000"/>
              </a:lnSpc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concat</a:t>
            </a:r>
            <a:r>
              <a:rPr sz="2000" spc="-5" dirty="0">
                <a:latin typeface="Courier New"/>
                <a:cs typeface="Courier New"/>
              </a:rPr>
              <a:t>(String str) 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"to".concat("get").concat("her")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returns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"together"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0476"/>
            <a:ext cx="9144000" cy="26034"/>
            <a:chOff x="0" y="760476"/>
            <a:chExt cx="9144000" cy="26034"/>
          </a:xfrm>
        </p:grpSpPr>
        <p:sp>
          <p:nvSpPr>
            <p:cNvPr id="3" name="object 3"/>
            <p:cNvSpPr/>
            <p:nvPr/>
          </p:nvSpPr>
          <p:spPr>
            <a:xfrm>
              <a:off x="0" y="760475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182880" y="0"/>
                  </a:lnTo>
                  <a:lnTo>
                    <a:pt x="0" y="0"/>
                  </a:lnTo>
                  <a:lnTo>
                    <a:pt x="0" y="25908"/>
                  </a:lnTo>
                  <a:lnTo>
                    <a:pt x="18288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2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28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32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57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439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86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E74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151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85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4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EA5D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728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EB69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8016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ED741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6303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EE7D1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459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087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288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392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116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49C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9456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6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7743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8AF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603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AB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AB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260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FAB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0896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BB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918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B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4747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BC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576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CC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404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CC5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0233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CC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062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DC8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891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DC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20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AC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7548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F3C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9377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BC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1206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E3C50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035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DCC5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864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D4C3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66927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CCC11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8521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B8BB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0350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60" h="26034">
                  <a:moveTo>
                    <a:pt x="365760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60" y="25908"/>
                  </a:lnTo>
                  <a:lnTo>
                    <a:pt x="365760" y="0"/>
                  </a:lnTo>
                  <a:close/>
                </a:path>
              </a:pathLst>
            </a:custGeom>
            <a:solidFill>
              <a:srgbClr val="A2B82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1792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8BB1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008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70A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58368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51A7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7665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DA1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9494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9D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13231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97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152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8B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49808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80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6809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71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8638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0062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04671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1752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22960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2D42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41248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303D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595359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333A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778240" y="760476"/>
              <a:ext cx="365760" cy="26034"/>
            </a:xfrm>
            <a:custGeom>
              <a:avLst/>
              <a:gdLst/>
              <a:ahLst/>
              <a:cxnLst/>
              <a:rect l="l" t="t" r="r" b="b"/>
              <a:pathLst>
                <a:path w="365759" h="26034">
                  <a:moveTo>
                    <a:pt x="36575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365759" y="25908"/>
                  </a:lnTo>
                  <a:lnTo>
                    <a:pt x="365759" y="0"/>
                  </a:lnTo>
                  <a:close/>
                </a:path>
              </a:pathLst>
            </a:custGeom>
            <a:solidFill>
              <a:srgbClr val="3538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61119" y="760476"/>
              <a:ext cx="182880" cy="26034"/>
            </a:xfrm>
            <a:custGeom>
              <a:avLst/>
              <a:gdLst/>
              <a:ahLst/>
              <a:cxnLst/>
              <a:rect l="l" t="t" r="r" b="b"/>
              <a:pathLst>
                <a:path w="182879" h="26034">
                  <a:moveTo>
                    <a:pt x="182879" y="0"/>
                  </a:moveTo>
                  <a:lnTo>
                    <a:pt x="0" y="0"/>
                  </a:lnTo>
                  <a:lnTo>
                    <a:pt x="0" y="25908"/>
                  </a:lnTo>
                  <a:lnTo>
                    <a:pt x="182879" y="25908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3930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>
            <a:spLocks noGrp="1"/>
          </p:cNvSpPr>
          <p:nvPr>
            <p:ph type="title"/>
          </p:nvPr>
        </p:nvSpPr>
        <p:spPr>
          <a:xfrm>
            <a:off x="383540" y="154304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Example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091" y="1074419"/>
            <a:ext cx="7481454" cy="5175250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22</a:t>
            </a:fld>
            <a:endParaRPr spc="-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98247"/>
            <a:ext cx="385699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8654"/>
            <a:ext cx="8070850" cy="3597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244475" algn="l"/>
              </a:tabLst>
            </a:pPr>
            <a:r>
              <a:rPr sz="2800" dirty="0">
                <a:latin typeface="Arial MT"/>
                <a:cs typeface="Arial MT"/>
              </a:rPr>
              <a:t>replace()-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Returns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a</a:t>
            </a:r>
            <a:r>
              <a:rPr sz="2800" dirty="0">
                <a:latin typeface="Arial MT"/>
                <a:cs typeface="Arial MT"/>
              </a:rPr>
              <a:t> new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string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resulting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from </a:t>
            </a:r>
            <a:r>
              <a:rPr sz="2800" spc="-7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replacing </a:t>
            </a:r>
            <a:r>
              <a:rPr sz="2800" spc="-5" dirty="0">
                <a:latin typeface="Arial MT"/>
                <a:cs typeface="Arial MT"/>
              </a:rPr>
              <a:t>all occurrences </a:t>
            </a:r>
            <a:r>
              <a:rPr sz="2800" dirty="0">
                <a:latin typeface="Arial MT"/>
                <a:cs typeface="Arial MT"/>
              </a:rPr>
              <a:t>of </a:t>
            </a:r>
            <a:r>
              <a:rPr sz="2800" spc="-5" dirty="0">
                <a:latin typeface="Arial MT"/>
                <a:cs typeface="Arial MT"/>
              </a:rPr>
              <a:t>oldChar in this string 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</a:t>
            </a:r>
            <a:r>
              <a:rPr sz="2800" spc="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newChar</a:t>
            </a:r>
            <a:endParaRPr sz="2800">
              <a:latin typeface="Arial MT"/>
              <a:cs typeface="Arial MT"/>
            </a:endParaRPr>
          </a:p>
          <a:p>
            <a:pPr marL="243840" marR="602615" indent="-231775">
              <a:lnSpc>
                <a:spcPct val="100000"/>
              </a:lnSpc>
              <a:spcBef>
                <a:spcPts val="2150"/>
              </a:spcBef>
            </a:pPr>
            <a:r>
              <a:rPr sz="2800" spc="-10" dirty="0">
                <a:latin typeface="Courier New"/>
                <a:cs typeface="Courier New"/>
              </a:rPr>
              <a:t>public String </a:t>
            </a:r>
            <a:r>
              <a:rPr sz="2800" b="1" spc="-10" dirty="0">
                <a:latin typeface="Courier New"/>
                <a:cs typeface="Courier New"/>
              </a:rPr>
              <a:t>replace</a:t>
            </a:r>
            <a:r>
              <a:rPr sz="2800" spc="-10" dirty="0">
                <a:latin typeface="Courier New"/>
                <a:cs typeface="Courier New"/>
              </a:rPr>
              <a:t>(char oldChar,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char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newChar)</a:t>
            </a:r>
            <a:endParaRPr sz="2800">
              <a:latin typeface="Courier New"/>
              <a:cs typeface="Courier New"/>
            </a:endParaRPr>
          </a:p>
          <a:p>
            <a:pPr marL="243840" marR="783590" indent="-231775">
              <a:lnSpc>
                <a:spcPct val="101800"/>
              </a:lnSpc>
              <a:spcBef>
                <a:spcPts val="2340"/>
              </a:spcBef>
            </a:pPr>
            <a:r>
              <a:rPr sz="2800" spc="-10" dirty="0">
                <a:latin typeface="Courier New"/>
                <a:cs typeface="Courier New"/>
              </a:rPr>
              <a:t>"wipra technalagies".replace('a', </a:t>
            </a:r>
            <a:r>
              <a:rPr sz="2800" spc="-5" dirty="0">
                <a:latin typeface="Courier New"/>
                <a:cs typeface="Courier New"/>
              </a:rPr>
              <a:t> 'o')</a:t>
            </a:r>
            <a:r>
              <a:rPr sz="2800" spc="-4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returns</a:t>
            </a:r>
            <a:r>
              <a:rPr sz="2800" spc="-4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"wipro</a:t>
            </a:r>
            <a:r>
              <a:rPr sz="2800" spc="-5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technologies"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4668" y="982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24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97026"/>
            <a:ext cx="8070850" cy="68389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3840" marR="5080" indent="-231775">
              <a:lnSpc>
                <a:spcPts val="2300"/>
              </a:lnSpc>
              <a:spcBef>
                <a:spcPts val="660"/>
              </a:spcBef>
              <a:buFont typeface="Arial MT"/>
              <a:buChar char="•"/>
              <a:tabLst>
                <a:tab pos="244475" algn="l"/>
                <a:tab pos="1175385" algn="l"/>
                <a:tab pos="1426845" algn="l"/>
                <a:tab pos="2644775" algn="l"/>
                <a:tab pos="2964815" algn="l"/>
                <a:tab pos="3759200" algn="l"/>
                <a:tab pos="4164329" algn="l"/>
                <a:tab pos="4739005" algn="l"/>
                <a:tab pos="5720715" algn="l"/>
                <a:tab pos="6412865" algn="l"/>
                <a:tab pos="7549515" algn="l"/>
              </a:tabLst>
            </a:pPr>
            <a:r>
              <a:rPr sz="2400" b="1" spc="-5" dirty="0">
                <a:latin typeface="Arial"/>
                <a:cs typeface="Arial"/>
              </a:rPr>
              <a:t>t</a:t>
            </a:r>
            <a:r>
              <a:rPr sz="2400" b="1" dirty="0">
                <a:latin typeface="Arial"/>
                <a:cs typeface="Arial"/>
              </a:rPr>
              <a:t>ri</a:t>
            </a:r>
            <a:r>
              <a:rPr sz="2400" b="1" spc="5" dirty="0">
                <a:latin typeface="Arial"/>
                <a:cs typeface="Arial"/>
              </a:rPr>
              <a:t>m</a:t>
            </a:r>
            <a:r>
              <a:rPr sz="2400" b="1" dirty="0">
                <a:latin typeface="Arial"/>
                <a:cs typeface="Arial"/>
              </a:rPr>
              <a:t>()	-	</a:t>
            </a:r>
            <a:r>
              <a:rPr sz="2400" spc="-5" dirty="0">
                <a:latin typeface="Arial MT"/>
                <a:cs typeface="Arial MT"/>
              </a:rPr>
              <a:t>R</a:t>
            </a:r>
            <a:r>
              <a:rPr sz="2400" spc="-1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tur</a:t>
            </a:r>
            <a:r>
              <a:rPr sz="2400" spc="-5" dirty="0">
                <a:latin typeface="Arial MT"/>
                <a:cs typeface="Arial MT"/>
              </a:rPr>
              <a:t>ns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copy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</a:t>
            </a:r>
            <a:r>
              <a:rPr sz="2400" dirty="0">
                <a:latin typeface="Arial MT"/>
                <a:cs typeface="Arial MT"/>
              </a:rPr>
              <a:t>f	the	st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dirty="0">
                <a:latin typeface="Arial MT"/>
                <a:cs typeface="Arial MT"/>
              </a:rPr>
              <a:t>g,	</a:t>
            </a:r>
            <a:r>
              <a:rPr sz="2400" spc="-5" dirty="0">
                <a:latin typeface="Arial MT"/>
                <a:cs typeface="Arial MT"/>
              </a:rPr>
              <a:t>w</a:t>
            </a:r>
            <a:r>
              <a:rPr sz="2400" spc="-15" dirty="0">
                <a:latin typeface="Arial MT"/>
                <a:cs typeface="Arial MT"/>
              </a:rPr>
              <a:t>i</a:t>
            </a:r>
            <a:r>
              <a:rPr sz="2400" dirty="0">
                <a:latin typeface="Arial MT"/>
                <a:cs typeface="Arial MT"/>
              </a:rPr>
              <a:t>th	</a:t>
            </a:r>
            <a:r>
              <a:rPr sz="2400" spc="-5" dirty="0">
                <a:latin typeface="Arial MT"/>
                <a:cs typeface="Arial MT"/>
              </a:rPr>
              <a:t>lea</a:t>
            </a:r>
            <a:r>
              <a:rPr sz="2400" dirty="0">
                <a:latin typeface="Arial MT"/>
                <a:cs typeface="Arial MT"/>
              </a:rPr>
              <a:t>d</a:t>
            </a:r>
            <a:r>
              <a:rPr sz="2400" spc="-5" dirty="0">
                <a:latin typeface="Arial MT"/>
                <a:cs typeface="Arial MT"/>
              </a:rPr>
              <a:t>ing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and  </a:t>
            </a:r>
            <a:r>
              <a:rPr sz="2400" spc="-5" dirty="0">
                <a:latin typeface="Arial MT"/>
                <a:cs typeface="Arial MT"/>
              </a:rPr>
              <a:t>trailing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whitespace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omitted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587" y="2116963"/>
            <a:ext cx="3860800" cy="1482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ourier New"/>
                <a:cs typeface="Courier New"/>
              </a:rPr>
              <a:t>public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String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trim()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2570480" algn="l"/>
              </a:tabLst>
            </a:pPr>
            <a:r>
              <a:rPr sz="2400" dirty="0">
                <a:latin typeface="Courier New"/>
                <a:cs typeface="Courier New"/>
              </a:rPr>
              <a:t>String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 “	</a:t>
            </a:r>
            <a:r>
              <a:rPr sz="2400" spc="-10" dirty="0">
                <a:latin typeface="Courier New"/>
                <a:cs typeface="Courier New"/>
              </a:rPr>
              <a:t>Hi</a:t>
            </a:r>
            <a:r>
              <a:rPr sz="2400" spc="-9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Mom!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Courier New"/>
                <a:cs typeface="Courier New"/>
              </a:rPr>
              <a:t>S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dirty="0">
                <a:latin typeface="Courier New"/>
                <a:cs typeface="Courier New"/>
              </a:rPr>
              <a:t>=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“Hi</a:t>
            </a:r>
            <a:r>
              <a:rPr sz="2400" spc="-5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Mom!”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67096" y="2842082"/>
            <a:ext cx="166941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ourier New"/>
                <a:cs typeface="Courier New"/>
              </a:rPr>
              <a:t>“.trim();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3950589"/>
            <a:ext cx="8073390" cy="206946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3840" marR="5080" indent="-231775" algn="just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4475" algn="l"/>
              </a:tabLst>
            </a:pPr>
            <a:r>
              <a:rPr sz="2400" b="1" dirty="0">
                <a:latin typeface="Arial"/>
                <a:cs typeface="Arial"/>
              </a:rPr>
              <a:t>valueOf() – </a:t>
            </a:r>
            <a:r>
              <a:rPr sz="2400" spc="-5" dirty="0">
                <a:latin typeface="Arial MT"/>
                <a:cs typeface="Arial MT"/>
              </a:rPr>
              <a:t>This method is used </a:t>
            </a:r>
            <a:r>
              <a:rPr sz="2400" dirty="0">
                <a:latin typeface="Arial MT"/>
                <a:cs typeface="Arial MT"/>
              </a:rPr>
              <a:t>to convert </a:t>
            </a:r>
            <a:r>
              <a:rPr sz="2400" spc="-5" dirty="0">
                <a:latin typeface="Arial MT"/>
                <a:cs typeface="Arial MT"/>
              </a:rPr>
              <a:t>a character </a:t>
            </a:r>
            <a:r>
              <a:rPr sz="2400" dirty="0">
                <a:latin typeface="Arial MT"/>
                <a:cs typeface="Arial MT"/>
              </a:rPr>
              <a:t> array </a:t>
            </a:r>
            <a:r>
              <a:rPr sz="2400" spc="-5" dirty="0">
                <a:latin typeface="Arial MT"/>
                <a:cs typeface="Arial MT"/>
              </a:rPr>
              <a:t>into String. The result is a String </a:t>
            </a:r>
            <a:r>
              <a:rPr sz="2400" dirty="0">
                <a:latin typeface="Arial MT"/>
                <a:cs typeface="Arial MT"/>
              </a:rPr>
              <a:t>representation </a:t>
            </a:r>
            <a:r>
              <a:rPr sz="2400" spc="-15" dirty="0">
                <a:latin typeface="Arial MT"/>
                <a:cs typeface="Arial MT"/>
              </a:rPr>
              <a:t>of 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argument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passed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character </a:t>
            </a:r>
            <a:r>
              <a:rPr sz="2400" dirty="0">
                <a:latin typeface="Arial MT"/>
                <a:cs typeface="Arial MT"/>
              </a:rPr>
              <a:t>array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5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1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static </a:t>
            </a:r>
            <a:r>
              <a:rPr sz="2400" spc="-10" dirty="0">
                <a:latin typeface="Courier New"/>
                <a:cs typeface="Courier New"/>
              </a:rPr>
              <a:t>String</a:t>
            </a:r>
            <a:r>
              <a:rPr sz="2400" spc="-3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(char[]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data)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54304"/>
            <a:ext cx="55289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sz="3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908221"/>
            <a:ext cx="7146925" cy="407289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2800" spc="-5" dirty="0">
                <a:latin typeface="Arial MT"/>
                <a:cs typeface="Arial MT"/>
              </a:rPr>
              <a:t>Other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forms</a:t>
            </a:r>
            <a:r>
              <a:rPr sz="2800" spc="-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are:</a:t>
            </a:r>
            <a:endParaRPr sz="2800">
              <a:latin typeface="Arial MT"/>
              <a:cs typeface="Arial MT"/>
            </a:endParaRPr>
          </a:p>
          <a:p>
            <a:pPr marL="12700" marR="5080">
              <a:lnSpc>
                <a:spcPts val="4490"/>
              </a:lnSpc>
              <a:spcBef>
                <a:spcPts val="280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static 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(char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c) 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static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(boolean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b) </a:t>
            </a:r>
            <a:r>
              <a:rPr sz="2400" spc="-142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static</a:t>
            </a:r>
            <a:r>
              <a:rPr sz="2400" spc="-10" dirty="0">
                <a:latin typeface="Courier New"/>
                <a:cs typeface="Courier New"/>
              </a:rPr>
              <a:t> 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(int</a:t>
            </a:r>
            <a:r>
              <a:rPr sz="2400" spc="-15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i)</a:t>
            </a:r>
            <a:endParaRPr sz="2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static 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(long</a:t>
            </a:r>
            <a:r>
              <a:rPr sz="2400" spc="-5" dirty="0">
                <a:latin typeface="Courier New"/>
                <a:cs typeface="Courier New"/>
              </a:rPr>
              <a:t> l)</a:t>
            </a:r>
            <a:endParaRPr sz="2400">
              <a:latin typeface="Courier New"/>
              <a:cs typeface="Courier New"/>
            </a:endParaRPr>
          </a:p>
          <a:p>
            <a:pPr marL="12700" marR="187960">
              <a:lnSpc>
                <a:spcPts val="4490"/>
              </a:lnSpc>
              <a:spcBef>
                <a:spcPts val="215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static 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(float</a:t>
            </a:r>
            <a:r>
              <a:rPr sz="2400" spc="-5" dirty="0">
                <a:latin typeface="Courier New"/>
                <a:cs typeface="Courier New"/>
              </a:rPr>
              <a:t> f) 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2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static String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valueOf</a:t>
            </a:r>
            <a:r>
              <a:rPr sz="2400" spc="-10" dirty="0">
                <a:latin typeface="Courier New"/>
                <a:cs typeface="Courier New"/>
              </a:rPr>
              <a:t>(double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2400" spc="-5" dirty="0">
                <a:latin typeface="Courier New"/>
                <a:cs typeface="Courier New"/>
              </a:rPr>
              <a:t>d)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98247"/>
            <a:ext cx="552958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 class</a:t>
            </a:r>
            <a:r>
              <a:rPr sz="3000" spc="-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Methods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26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b="1" spc="-5" dirty="0">
                <a:latin typeface="Times New Roman" pitchFamily="18" charset="0"/>
                <a:cs typeface="Times New Roman" pitchFamily="18" charset="0"/>
              </a:rPr>
              <a:t>toLowerCase():</a:t>
            </a:r>
            <a:r>
              <a:rPr b="1"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Method</a:t>
            </a:r>
            <a:r>
              <a:rPr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converts</a:t>
            </a:r>
            <a:r>
              <a:rPr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spc="2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2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characters</a:t>
            </a:r>
            <a:r>
              <a:rPr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pc="-65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 String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to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lower</a:t>
            </a:r>
            <a:r>
              <a:rPr spc="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case</a:t>
            </a:r>
          </a:p>
          <a:p>
            <a:pPr marL="243840" marR="5080" indent="-23177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4475" algn="l"/>
              </a:tabLst>
            </a:pPr>
            <a:r>
              <a:rPr b="1" dirty="0">
                <a:latin typeface="Times New Roman" pitchFamily="18" charset="0"/>
                <a:cs typeface="Times New Roman" pitchFamily="18" charset="0"/>
              </a:rPr>
              <a:t>toUpperCase():</a:t>
            </a:r>
            <a:r>
              <a:rPr b="1"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Method</a:t>
            </a:r>
            <a:r>
              <a:rPr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converts</a:t>
            </a:r>
            <a:r>
              <a:rPr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all</a:t>
            </a:r>
            <a:r>
              <a:rPr spc="2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of</a:t>
            </a:r>
            <a:r>
              <a:rPr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pc="229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characters</a:t>
            </a:r>
            <a:r>
              <a:rPr spc="23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spc="-6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to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upper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case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850">
              <a:latin typeface="Times New Roman" pitchFamily="18" charset="0"/>
              <a:cs typeface="Times New Roman" pitchFamily="18" charset="0"/>
            </a:endParaRPr>
          </a:p>
          <a:p>
            <a:pPr marL="12700" marR="3935729">
              <a:lnSpc>
                <a:spcPct val="120000"/>
              </a:lnSpc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public String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toLowerCase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() </a:t>
            </a:r>
            <a:r>
              <a:rPr sz="2000" spc="-11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sz="2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toUpperCase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()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 pitchFamily="18" charset="0"/>
              <a:cs typeface="Times New Roman" pitchFamily="18" charset="0"/>
            </a:endParaRPr>
          </a:p>
          <a:p>
            <a:pPr marL="469900" marR="3174365" indent="-457834">
              <a:lnSpc>
                <a:spcPct val="120100"/>
              </a:lnSpc>
              <a:spcBef>
                <a:spcPts val="5"/>
              </a:spcBef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Eg: "HELLO WORLD".toLowerCase(); </a:t>
            </a:r>
            <a:r>
              <a:rPr sz="2000" spc="-11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"hello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world".toUpperCase();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8247"/>
            <a:ext cx="224853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StringBuffer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27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68653"/>
            <a:ext cx="8225155" cy="4245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698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2019935" algn="l"/>
                <a:tab pos="2884170" algn="l"/>
                <a:tab pos="4020820" algn="l"/>
                <a:tab pos="4631055" algn="l"/>
                <a:tab pos="5970905" algn="l"/>
                <a:tab pos="6463030" algn="l"/>
                <a:tab pos="7209790" algn="l"/>
                <a:tab pos="7871459" algn="l"/>
              </a:tabLst>
            </a:pPr>
            <a:r>
              <a:rPr sz="2400" dirty="0">
                <a:latin typeface="Arial MT"/>
                <a:cs typeface="Arial MT"/>
              </a:rPr>
              <a:t>Str</a:t>
            </a:r>
            <a:r>
              <a:rPr sz="2400" spc="-5" dirty="0">
                <a:latin typeface="Arial MT"/>
                <a:cs typeface="Arial MT"/>
              </a:rPr>
              <a:t>ingBu</a:t>
            </a:r>
            <a:r>
              <a:rPr sz="2400" spc="-45" dirty="0">
                <a:latin typeface="Arial MT"/>
                <a:cs typeface="Arial MT"/>
              </a:rPr>
              <a:t>f</a:t>
            </a:r>
            <a:r>
              <a:rPr sz="2400" dirty="0">
                <a:latin typeface="Arial MT"/>
                <a:cs typeface="Arial MT"/>
              </a:rPr>
              <a:t>fer	</a:t>
            </a:r>
            <a:r>
              <a:rPr sz="2400" spc="-5" dirty="0">
                <a:latin typeface="Arial MT"/>
                <a:cs typeface="Arial MT"/>
              </a:rPr>
              <a:t>cl</a:t>
            </a:r>
            <a:r>
              <a:rPr sz="2400" spc="-1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ss	</a:t>
            </a:r>
            <a:r>
              <a:rPr sz="2400" spc="-5" dirty="0">
                <a:latin typeface="Arial MT"/>
                <a:cs typeface="Arial MT"/>
              </a:rPr>
              <a:t>objects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	mut</a:t>
            </a:r>
            <a:r>
              <a:rPr sz="2400" spc="-5" dirty="0">
                <a:latin typeface="Arial MT"/>
                <a:cs typeface="Arial MT"/>
              </a:rPr>
              <a:t>ab</a:t>
            </a:r>
            <a:r>
              <a:rPr sz="2400" spc="-15" dirty="0">
                <a:latin typeface="Arial MT"/>
                <a:cs typeface="Arial MT"/>
              </a:rPr>
              <a:t>l</a:t>
            </a:r>
            <a:r>
              <a:rPr sz="2400" dirty="0">
                <a:latin typeface="Arial MT"/>
                <a:cs typeface="Arial MT"/>
              </a:rPr>
              <a:t>e,	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	they	</a:t>
            </a:r>
            <a:r>
              <a:rPr sz="2400" spc="-5" dirty="0">
                <a:latin typeface="Arial MT"/>
                <a:cs typeface="Arial MT"/>
              </a:rPr>
              <a:t>can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be  </a:t>
            </a:r>
            <a:r>
              <a:rPr sz="2400" spc="-5" dirty="0">
                <a:latin typeface="Arial MT"/>
                <a:cs typeface="Arial MT"/>
              </a:rPr>
              <a:t>modified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243840" marR="6350" indent="-231775">
              <a:lnSpc>
                <a:spcPct val="100000"/>
              </a:lnSpc>
              <a:buChar char="•"/>
              <a:tabLst>
                <a:tab pos="244475" algn="l"/>
                <a:tab pos="1853564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4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	and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content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of</a:t>
            </a:r>
            <a:r>
              <a:rPr sz="2400" spc="3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StringBuffer</a:t>
            </a:r>
            <a:r>
              <a:rPr sz="2400" spc="3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3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changed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through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certain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calls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25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StringBuffer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defines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three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constructors: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StringBuffer()//empty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StringBuffer(int</a:t>
            </a:r>
            <a:r>
              <a:rPr sz="2000" spc="1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capacity)//creates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empty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10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with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1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capacity</a:t>
            </a:r>
            <a:endParaRPr sz="20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</a:t>
            </a:r>
            <a:endParaRPr sz="2000">
              <a:latin typeface="Arial MT"/>
              <a:cs typeface="Arial MT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Arial MT"/>
                <a:cs typeface="Arial MT"/>
              </a:rPr>
              <a:t>StringBuffer(String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str)//create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StringBuffer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object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string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54304"/>
            <a:ext cx="44697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Buffer</a:t>
            </a:r>
            <a:r>
              <a:rPr sz="3000" spc="-4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Operations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017778"/>
            <a:ext cx="8071484" cy="4513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715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</a:tabLst>
            </a:pPr>
            <a:r>
              <a:rPr sz="2400" spc="-5" dirty="0">
                <a:latin typeface="Arial MT"/>
                <a:cs typeface="Arial MT"/>
              </a:rPr>
              <a:t>StringBuffer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main</a:t>
            </a:r>
            <a:r>
              <a:rPr sz="2400" spc="2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methods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append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insert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3500">
              <a:latin typeface="Arial MT"/>
              <a:cs typeface="Arial MT"/>
            </a:endParaRPr>
          </a:p>
          <a:p>
            <a:pPr marL="243840" marR="5080" indent="-231775">
              <a:lnSpc>
                <a:spcPct val="100000"/>
              </a:lnSpc>
              <a:buChar char="•"/>
              <a:tabLst>
                <a:tab pos="244475" algn="l"/>
                <a:tab pos="1049020" algn="l"/>
                <a:tab pos="1972310" algn="l"/>
                <a:tab pos="3319779" algn="l"/>
                <a:tab pos="3938904" algn="l"/>
                <a:tab pos="5627370" algn="l"/>
                <a:tab pos="6127750" algn="l"/>
                <a:tab pos="6813550" algn="l"/>
                <a:tab pos="7567930" algn="l"/>
              </a:tabLst>
            </a:pPr>
            <a:r>
              <a:rPr sz="2400" dirty="0">
                <a:latin typeface="Arial MT"/>
                <a:cs typeface="Arial MT"/>
              </a:rPr>
              <a:t>Both	</a:t>
            </a:r>
            <a:r>
              <a:rPr sz="2400" spc="-5" dirty="0">
                <a:latin typeface="Arial MT"/>
                <a:cs typeface="Arial MT"/>
              </a:rPr>
              <a:t>these</a:t>
            </a:r>
            <a:r>
              <a:rPr sz="2400" dirty="0">
                <a:latin typeface="Arial MT"/>
                <a:cs typeface="Arial MT"/>
              </a:rPr>
              <a:t>	m</a:t>
            </a:r>
            <a:r>
              <a:rPr sz="2400" spc="-5" dirty="0">
                <a:latin typeface="Arial MT"/>
                <a:cs typeface="Arial MT"/>
              </a:rPr>
              <a:t>ethods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overl</a:t>
            </a:r>
            <a:r>
              <a:rPr sz="2400" dirty="0">
                <a:latin typeface="Arial MT"/>
                <a:cs typeface="Arial MT"/>
              </a:rPr>
              <a:t>o</a:t>
            </a:r>
            <a:r>
              <a:rPr sz="2400" spc="-5" dirty="0">
                <a:latin typeface="Arial MT"/>
                <a:cs typeface="Arial MT"/>
              </a:rPr>
              <a:t>ad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so</a:t>
            </a:r>
            <a:r>
              <a:rPr sz="2400" dirty="0">
                <a:latin typeface="Arial MT"/>
                <a:cs typeface="Arial MT"/>
              </a:rPr>
              <a:t>	t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dirty="0">
                <a:latin typeface="Arial MT"/>
                <a:cs typeface="Arial MT"/>
              </a:rPr>
              <a:t>at	they	</a:t>
            </a:r>
            <a:r>
              <a:rPr sz="2400" spc="-15" dirty="0">
                <a:latin typeface="Arial MT"/>
                <a:cs typeface="Arial MT"/>
              </a:rPr>
              <a:t>c</a:t>
            </a:r>
            <a:r>
              <a:rPr sz="2400" spc="-5" dirty="0">
                <a:latin typeface="Arial MT"/>
                <a:cs typeface="Arial MT"/>
              </a:rPr>
              <a:t>an  accept any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type</a:t>
            </a:r>
            <a:r>
              <a:rPr sz="2400" spc="-5" dirty="0">
                <a:latin typeface="Arial MT"/>
                <a:cs typeface="Arial MT"/>
              </a:rPr>
              <a:t> of data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350">
              <a:latin typeface="Arial MT"/>
              <a:cs typeface="Arial MT"/>
            </a:endParaRPr>
          </a:p>
          <a:p>
            <a:pPr marL="243840" marR="3085465" indent="-231775">
              <a:lnSpc>
                <a:spcPct val="105200"/>
              </a:lnSpc>
            </a:pPr>
            <a:r>
              <a:rPr sz="2400" spc="-5" dirty="0">
                <a:latin typeface="Arial MT"/>
                <a:cs typeface="Arial MT"/>
              </a:rPr>
              <a:t>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few</a:t>
            </a:r>
            <a:r>
              <a:rPr sz="2400" spc="-5" dirty="0">
                <a:latin typeface="Arial MT"/>
                <a:cs typeface="Arial MT"/>
              </a:rPr>
              <a:t> append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methods: 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StringBuffer append(String str) </a:t>
            </a:r>
            <a:r>
              <a:rPr sz="2000" spc="-119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StringBuffer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append(int num)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50">
              <a:latin typeface="Courier New"/>
              <a:cs typeface="Courier New"/>
            </a:endParaRPr>
          </a:p>
          <a:p>
            <a:pPr marL="243840" marR="5080" indent="-231775">
              <a:lnSpc>
                <a:spcPct val="100000"/>
              </a:lnSpc>
              <a:buChar char="•"/>
              <a:tabLst>
                <a:tab pos="244475" algn="l"/>
                <a:tab pos="777875" algn="l"/>
                <a:tab pos="1379855" algn="l"/>
                <a:tab pos="2320290" algn="l"/>
                <a:tab pos="3801745" algn="l"/>
                <a:tab pos="4403725" algn="l"/>
                <a:tab pos="5598795" algn="l"/>
                <a:tab pos="6793865" algn="l"/>
                <a:tab pos="7633334" algn="l"/>
              </a:tabLst>
            </a:pP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s	the	</a:t>
            </a:r>
            <a:r>
              <a:rPr sz="2400" spc="-5" dirty="0">
                <a:latin typeface="Arial MT"/>
                <a:cs typeface="Arial MT"/>
              </a:rPr>
              <a:t>name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suggest</a:t>
            </a:r>
            <a:r>
              <a:rPr sz="2400" spc="-1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,	the	</a:t>
            </a:r>
            <a:r>
              <a:rPr sz="2400" spc="-5" dirty="0">
                <a:latin typeface="Arial MT"/>
                <a:cs typeface="Arial MT"/>
              </a:rPr>
              <a:t>ap</a:t>
            </a:r>
            <a:r>
              <a:rPr sz="2400" spc="-15" dirty="0">
                <a:latin typeface="Arial MT"/>
                <a:cs typeface="Arial MT"/>
              </a:rPr>
              <a:t>p</a:t>
            </a:r>
            <a:r>
              <a:rPr sz="2400" dirty="0">
                <a:latin typeface="Arial MT"/>
                <a:cs typeface="Arial MT"/>
              </a:rPr>
              <a:t>e</a:t>
            </a:r>
            <a:r>
              <a:rPr sz="2400" spc="-5" dirty="0">
                <a:latin typeface="Arial MT"/>
                <a:cs typeface="Arial MT"/>
              </a:rPr>
              <a:t>nd</a:t>
            </a:r>
            <a:r>
              <a:rPr sz="2400" dirty="0">
                <a:latin typeface="Arial MT"/>
                <a:cs typeface="Arial MT"/>
              </a:rPr>
              <a:t>	met</a:t>
            </a:r>
            <a:r>
              <a:rPr sz="2400" spc="-5" dirty="0">
                <a:latin typeface="Arial MT"/>
                <a:cs typeface="Arial MT"/>
              </a:rPr>
              <a:t>hod</a:t>
            </a:r>
            <a:r>
              <a:rPr sz="2400" dirty="0">
                <a:latin typeface="Arial MT"/>
                <a:cs typeface="Arial MT"/>
              </a:rPr>
              <a:t>	a</a:t>
            </a:r>
            <a:r>
              <a:rPr sz="2400" spc="-5" dirty="0">
                <a:latin typeface="Arial MT"/>
                <a:cs typeface="Arial MT"/>
              </a:rPr>
              <a:t>dds</a:t>
            </a:r>
            <a:r>
              <a:rPr sz="2400" dirty="0">
                <a:latin typeface="Arial MT"/>
                <a:cs typeface="Arial MT"/>
              </a:rPr>
              <a:t>	the  </a:t>
            </a:r>
            <a:r>
              <a:rPr sz="2400" spc="-5" dirty="0">
                <a:latin typeface="Arial MT"/>
                <a:cs typeface="Arial MT"/>
              </a:rPr>
              <a:t>specified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characters </a:t>
            </a:r>
            <a:r>
              <a:rPr sz="2400" spc="-5" dirty="0">
                <a:latin typeface="Arial MT"/>
                <a:cs typeface="Arial MT"/>
              </a:rPr>
              <a:t>at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StringBuffer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98247"/>
            <a:ext cx="6038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StringBuffer Operations</a:t>
            </a:r>
            <a:r>
              <a:rPr sz="3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29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321053"/>
            <a:ext cx="8531225" cy="3439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Char char="•"/>
              <a:tabLst>
                <a:tab pos="244475" algn="l"/>
                <a:tab pos="949960" algn="l"/>
                <a:tab pos="1877695" algn="l"/>
                <a:tab pos="3228340" algn="l"/>
                <a:tab pos="3850640" algn="l"/>
                <a:tab pos="4692015" algn="l"/>
                <a:tab pos="5127625" algn="l"/>
                <a:tab pos="6055995" algn="l"/>
                <a:tab pos="7659370" algn="l"/>
                <a:tab pos="8094345" algn="l"/>
              </a:tabLst>
            </a:pPr>
            <a:r>
              <a:rPr sz="2400" spc="-5" dirty="0">
                <a:latin typeface="Arial MT"/>
                <a:cs typeface="Arial MT"/>
              </a:rPr>
              <a:t>Th</a:t>
            </a:r>
            <a:r>
              <a:rPr sz="2400" dirty="0">
                <a:latin typeface="Arial MT"/>
                <a:cs typeface="Arial MT"/>
              </a:rPr>
              <a:t>e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ert	met</a:t>
            </a:r>
            <a:r>
              <a:rPr sz="2400" spc="-5" dirty="0">
                <a:latin typeface="Arial MT"/>
                <a:cs typeface="Arial MT"/>
              </a:rPr>
              <a:t>ho</a:t>
            </a:r>
            <a:r>
              <a:rPr sz="2400" spc="-15" dirty="0">
                <a:latin typeface="Arial MT"/>
                <a:cs typeface="Arial MT"/>
              </a:rPr>
              <a:t>d</a:t>
            </a:r>
            <a:r>
              <a:rPr sz="2400" dirty="0">
                <a:latin typeface="Arial MT"/>
                <a:cs typeface="Arial MT"/>
              </a:rPr>
              <a:t>s	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	to	</a:t>
            </a:r>
            <a:r>
              <a:rPr sz="2400" spc="-5" dirty="0">
                <a:latin typeface="Arial MT"/>
                <a:cs typeface="Arial MT"/>
              </a:rPr>
              <a:t>i</a:t>
            </a:r>
            <a:r>
              <a:rPr sz="2400" spc="-15" dirty="0">
                <a:latin typeface="Arial MT"/>
                <a:cs typeface="Arial MT"/>
              </a:rPr>
              <a:t>n</a:t>
            </a:r>
            <a:r>
              <a:rPr sz="2400" spc="5" dirty="0">
                <a:latin typeface="Arial MT"/>
                <a:cs typeface="Arial MT"/>
              </a:rPr>
              <a:t>s</a:t>
            </a:r>
            <a:r>
              <a:rPr sz="2400" dirty="0">
                <a:latin typeface="Arial MT"/>
                <a:cs typeface="Arial MT"/>
              </a:rPr>
              <a:t>ert	</a:t>
            </a:r>
            <a:r>
              <a:rPr sz="2400" spc="-10" dirty="0">
                <a:latin typeface="Arial MT"/>
                <a:cs typeface="Arial MT"/>
              </a:rPr>
              <a:t>c</a:t>
            </a:r>
            <a:r>
              <a:rPr sz="2400" spc="-5" dirty="0">
                <a:latin typeface="Arial MT"/>
                <a:cs typeface="Arial MT"/>
              </a:rPr>
              <a:t>harac</a:t>
            </a:r>
            <a:r>
              <a:rPr sz="2400" dirty="0">
                <a:latin typeface="Arial MT"/>
                <a:cs typeface="Arial MT"/>
              </a:rPr>
              <a:t>te</a:t>
            </a:r>
            <a:r>
              <a:rPr sz="2400" spc="5" dirty="0">
                <a:latin typeface="Arial MT"/>
                <a:cs typeface="Arial MT"/>
              </a:rPr>
              <a:t>r</a:t>
            </a:r>
            <a:r>
              <a:rPr sz="2400" dirty="0">
                <a:latin typeface="Arial MT"/>
                <a:cs typeface="Arial MT"/>
              </a:rPr>
              <a:t>s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t	</a:t>
            </a:r>
            <a:r>
              <a:rPr sz="2400" spc="-5" dirty="0">
                <a:latin typeface="Arial MT"/>
                <a:cs typeface="Arial MT"/>
              </a:rPr>
              <a:t>the  specified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index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location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Here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few</a:t>
            </a:r>
            <a:r>
              <a:rPr sz="2400" spc="-5" dirty="0">
                <a:latin typeface="Arial MT"/>
                <a:cs typeface="Arial MT"/>
              </a:rPr>
              <a:t> insert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methods:</a:t>
            </a:r>
            <a:endParaRPr sz="2400">
              <a:latin typeface="Arial MT"/>
              <a:cs typeface="Arial MT"/>
            </a:endParaRPr>
          </a:p>
          <a:p>
            <a:pPr marL="243840">
              <a:lnSpc>
                <a:spcPct val="100000"/>
              </a:lnSpc>
              <a:spcBef>
                <a:spcPts val="2225"/>
              </a:spcBef>
            </a:pPr>
            <a:r>
              <a:rPr sz="2000" spc="-5" dirty="0">
                <a:latin typeface="Courier New"/>
                <a:cs typeface="Courier New"/>
              </a:rPr>
              <a:t>StringBuffer insert(int index,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str)</a:t>
            </a:r>
            <a:endParaRPr sz="2000">
              <a:latin typeface="Courier New"/>
              <a:cs typeface="Courier New"/>
            </a:endParaRPr>
          </a:p>
          <a:p>
            <a:pPr marL="243840">
              <a:lnSpc>
                <a:spcPct val="100000"/>
              </a:lnSpc>
            </a:pPr>
            <a:r>
              <a:rPr sz="2000" spc="-5" dirty="0">
                <a:latin typeface="Courier New"/>
                <a:cs typeface="Courier New"/>
              </a:rPr>
              <a:t>StringBuffer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append(int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index,</a:t>
            </a:r>
            <a:r>
              <a:rPr sz="2000" dirty="0">
                <a:latin typeface="Courier New"/>
                <a:cs typeface="Courier New"/>
              </a:rPr>
              <a:t> char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ch)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250">
              <a:latin typeface="Courier New"/>
              <a:cs typeface="Courier New"/>
            </a:endParaRPr>
          </a:p>
          <a:p>
            <a:pPr marL="243840" marR="8255" indent="-231775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z="2400" dirty="0">
                <a:latin typeface="Arial MT"/>
                <a:cs typeface="Arial MT"/>
              </a:rPr>
              <a:t>Index</a:t>
            </a:r>
            <a:r>
              <a:rPr sz="2400" spc="2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specifies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point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will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inserted</a:t>
            </a:r>
            <a:r>
              <a:rPr sz="2400" spc="2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into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invoking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StringBuffer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object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74447"/>
            <a:ext cx="6038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StringBuffer Operations</a:t>
            </a:r>
            <a:r>
              <a:rPr sz="3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30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43329"/>
            <a:ext cx="8068945" cy="26638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4475" algn="l"/>
                <a:tab pos="1795780" algn="l"/>
                <a:tab pos="2481580" algn="l"/>
                <a:tab pos="3437254" algn="l"/>
                <a:tab pos="4909820" algn="l"/>
                <a:tab pos="5450840" algn="l"/>
                <a:tab pos="6505575" algn="l"/>
                <a:tab pos="7086600" algn="l"/>
              </a:tabLst>
            </a:pPr>
            <a:r>
              <a:rPr sz="2800" b="1" spc="-5" dirty="0">
                <a:latin typeface="Arial"/>
                <a:cs typeface="Arial"/>
              </a:rPr>
              <a:t>de</a:t>
            </a:r>
            <a:r>
              <a:rPr sz="2800" b="1" dirty="0">
                <a:latin typeface="Arial"/>
                <a:cs typeface="Arial"/>
              </a:rPr>
              <a:t>l</a:t>
            </a:r>
            <a:r>
              <a:rPr sz="2800" b="1" spc="-5" dirty="0">
                <a:latin typeface="Arial"/>
                <a:cs typeface="Arial"/>
              </a:rPr>
              <a:t>e</a:t>
            </a:r>
            <a:r>
              <a:rPr sz="2800" b="1" spc="5" dirty="0">
                <a:latin typeface="Arial"/>
                <a:cs typeface="Arial"/>
              </a:rPr>
              <a:t>t</a:t>
            </a:r>
            <a:r>
              <a:rPr sz="2800" b="1" spc="-5" dirty="0">
                <a:latin typeface="Arial"/>
                <a:cs typeface="Arial"/>
              </a:rPr>
              <a:t>e</a:t>
            </a:r>
            <a:r>
              <a:rPr sz="2800" b="1" spc="5" dirty="0">
                <a:latin typeface="Arial"/>
                <a:cs typeface="Arial"/>
              </a:rPr>
              <a:t>(</a:t>
            </a:r>
            <a:r>
              <a:rPr sz="2800" b="1" spc="-5" dirty="0">
                <a:latin typeface="Arial"/>
                <a:cs typeface="Arial"/>
              </a:rPr>
              <a:t>)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b="1" spc="-5" dirty="0">
                <a:latin typeface="Arial"/>
                <a:cs typeface="Arial"/>
              </a:rPr>
              <a:t>-</a:t>
            </a:r>
            <a:r>
              <a:rPr sz="2800" b="1" dirty="0">
                <a:latin typeface="Arial"/>
                <a:cs typeface="Arial"/>
              </a:rPr>
              <a:t>	</a:t>
            </a:r>
            <a:r>
              <a:rPr sz="2800" spc="-5" dirty="0">
                <a:latin typeface="Arial MT"/>
                <a:cs typeface="Arial MT"/>
              </a:rPr>
              <a:t>This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met</a:t>
            </a:r>
            <a:r>
              <a:rPr sz="2800" dirty="0">
                <a:latin typeface="Arial MT"/>
                <a:cs typeface="Arial MT"/>
              </a:rPr>
              <a:t>h</a:t>
            </a:r>
            <a:r>
              <a:rPr sz="2800" spc="-5" dirty="0">
                <a:latin typeface="Arial MT"/>
                <a:cs typeface="Arial MT"/>
              </a:rPr>
              <a:t>od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is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u</a:t>
            </a:r>
            <a:r>
              <a:rPr sz="2800" dirty="0">
                <a:latin typeface="Arial MT"/>
                <a:cs typeface="Arial MT"/>
              </a:rPr>
              <a:t>s</a:t>
            </a:r>
            <a:r>
              <a:rPr sz="2800" spc="-5" dirty="0">
                <a:latin typeface="Arial MT"/>
                <a:cs typeface="Arial MT"/>
              </a:rPr>
              <a:t>ed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	</a:t>
            </a:r>
            <a:r>
              <a:rPr sz="2800" spc="-5" dirty="0">
                <a:latin typeface="Arial MT"/>
                <a:cs typeface="Arial MT"/>
              </a:rPr>
              <a:t>d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l</a:t>
            </a:r>
            <a:r>
              <a:rPr sz="2800" dirty="0">
                <a:latin typeface="Arial MT"/>
                <a:cs typeface="Arial MT"/>
              </a:rPr>
              <a:t>e</a:t>
            </a:r>
            <a:r>
              <a:rPr sz="2800" spc="-5" dirty="0">
                <a:latin typeface="Arial MT"/>
                <a:cs typeface="Arial MT"/>
              </a:rPr>
              <a:t>te  </a:t>
            </a:r>
            <a:r>
              <a:rPr sz="2800" dirty="0">
                <a:latin typeface="Arial MT"/>
                <a:cs typeface="Arial MT"/>
              </a:rPr>
              <a:t>specified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substring</a:t>
            </a:r>
            <a:r>
              <a:rPr sz="2800" spc="15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within</a:t>
            </a:r>
            <a:r>
              <a:rPr sz="2800" spc="2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the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StringBuffer</a:t>
            </a:r>
            <a:r>
              <a:rPr sz="2800" spc="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object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50">
              <a:latin typeface="Arial MT"/>
              <a:cs typeface="Arial MT"/>
            </a:endParaRPr>
          </a:p>
          <a:p>
            <a:pPr marL="243840" marR="175895" indent="-231775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Courier New"/>
                <a:cs typeface="Courier New"/>
              </a:rPr>
              <a:t>public StringBuffer </a:t>
            </a:r>
            <a:r>
              <a:rPr sz="2800" b="1" spc="-10" dirty="0">
                <a:latin typeface="Courier New"/>
                <a:cs typeface="Courier New"/>
              </a:rPr>
              <a:t>delete</a:t>
            </a:r>
            <a:r>
              <a:rPr sz="2800" spc="-10" dirty="0">
                <a:latin typeface="Courier New"/>
                <a:cs typeface="Courier New"/>
              </a:rPr>
              <a:t>(int start,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int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end)</a:t>
            </a:r>
            <a:endParaRPr sz="2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8247"/>
            <a:ext cx="6038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StringBuffer Operations</a:t>
            </a:r>
            <a:r>
              <a:rPr sz="3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31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0178"/>
            <a:ext cx="8072755" cy="422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 algn="just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"/>
                <a:cs typeface="Arial"/>
              </a:rPr>
              <a:t>replace()</a:t>
            </a:r>
            <a:r>
              <a:rPr sz="2400" b="1" dirty="0">
                <a:latin typeface="Arial"/>
                <a:cs typeface="Arial"/>
              </a:rPr>
              <a:t> -</a:t>
            </a:r>
            <a:r>
              <a:rPr sz="2400" b="1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replace</a:t>
            </a:r>
            <a:r>
              <a:rPr sz="2400" dirty="0">
                <a:latin typeface="Arial MT"/>
                <a:cs typeface="Arial MT"/>
              </a:rPr>
              <a:t> part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this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StringBuffer(substring)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another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substring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Arial MT"/>
              <a:cs typeface="Arial MT"/>
            </a:endParaRPr>
          </a:p>
          <a:p>
            <a:pPr marL="243840" marR="887730" indent="-231775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StringBuffer</a:t>
            </a:r>
            <a:r>
              <a:rPr sz="2000" spc="10" dirty="0">
                <a:latin typeface="Courier New"/>
                <a:cs typeface="Courier New"/>
              </a:rPr>
              <a:t> </a:t>
            </a:r>
            <a:r>
              <a:rPr sz="2000" b="1" spc="-5" dirty="0">
                <a:latin typeface="Courier New"/>
                <a:cs typeface="Courier New"/>
              </a:rPr>
              <a:t>replace</a:t>
            </a:r>
            <a:r>
              <a:rPr sz="2000" spc="-5" dirty="0">
                <a:latin typeface="Courier New"/>
                <a:cs typeface="Courier New"/>
              </a:rPr>
              <a:t>(int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start,</a:t>
            </a:r>
            <a:r>
              <a:rPr sz="200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int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end, </a:t>
            </a:r>
            <a:r>
              <a:rPr sz="2000" spc="-118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 str)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Courier New"/>
              <a:cs typeface="Courier New"/>
            </a:endParaRPr>
          </a:p>
          <a:p>
            <a:pPr marL="243840" marR="5715" indent="-231775" algn="just">
              <a:lnSpc>
                <a:spcPct val="100000"/>
              </a:lnSpc>
            </a:pPr>
            <a:r>
              <a:rPr sz="2400" b="1" spc="-5" dirty="0">
                <a:latin typeface="Arial"/>
                <a:cs typeface="Arial"/>
              </a:rPr>
              <a:t>substring() </a:t>
            </a:r>
            <a:r>
              <a:rPr sz="2400" b="1" dirty="0">
                <a:latin typeface="Arial"/>
                <a:cs typeface="Arial"/>
              </a:rPr>
              <a:t>- </a:t>
            </a:r>
            <a:r>
              <a:rPr sz="2400" spc="-5" dirty="0">
                <a:latin typeface="Arial MT"/>
                <a:cs typeface="Arial MT"/>
              </a:rPr>
              <a:t>This method </a:t>
            </a:r>
            <a:r>
              <a:rPr sz="2400" dirty="0">
                <a:latin typeface="Arial MT"/>
                <a:cs typeface="Arial MT"/>
              </a:rPr>
              <a:t>returns </a:t>
            </a:r>
            <a:r>
              <a:rPr sz="2400" spc="-5" dirty="0">
                <a:latin typeface="Arial MT"/>
                <a:cs typeface="Arial MT"/>
              </a:rPr>
              <a:t>a new string </a:t>
            </a:r>
            <a:r>
              <a:rPr sz="2400" dirty="0">
                <a:latin typeface="Arial MT"/>
                <a:cs typeface="Arial MT"/>
              </a:rPr>
              <a:t>which </a:t>
            </a:r>
            <a:r>
              <a:rPr sz="2400" spc="-10" dirty="0">
                <a:latin typeface="Arial MT"/>
                <a:cs typeface="Arial MT"/>
              </a:rPr>
              <a:t>is 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actually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substring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dirty="0">
                <a:latin typeface="Arial MT"/>
                <a:cs typeface="Arial MT"/>
              </a:rPr>
              <a:t> this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StringBuffer.</a:t>
            </a:r>
            <a:r>
              <a:rPr sz="2400" spc="64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extracts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characters </a:t>
            </a:r>
            <a:r>
              <a:rPr sz="2400" spc="-5" dirty="0">
                <a:latin typeface="Arial MT"/>
                <a:cs typeface="Arial MT"/>
              </a:rPr>
              <a:t>starting from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specified index all </a:t>
            </a:r>
            <a:r>
              <a:rPr sz="2400" dirty="0">
                <a:latin typeface="Arial MT"/>
                <a:cs typeface="Arial MT"/>
              </a:rPr>
              <a:t>the </a:t>
            </a:r>
            <a:r>
              <a:rPr sz="2400" spc="-5" dirty="0">
                <a:latin typeface="Arial MT"/>
                <a:cs typeface="Arial MT"/>
              </a:rPr>
              <a:t>way till </a:t>
            </a:r>
            <a:r>
              <a:rPr sz="2400" dirty="0">
                <a:latin typeface="Arial MT"/>
                <a:cs typeface="Arial MT"/>
              </a:rPr>
              <a:t> 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end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StringBuffer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000" spc="-5" dirty="0">
                <a:latin typeface="Courier New"/>
                <a:cs typeface="Courier New"/>
              </a:rPr>
              <a:t>public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String</a:t>
            </a:r>
            <a:r>
              <a:rPr sz="2000" spc="-10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substring(int</a:t>
            </a:r>
            <a:r>
              <a:rPr sz="2000" spc="5" dirty="0">
                <a:latin typeface="Courier New"/>
                <a:cs typeface="Courier New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start)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54304"/>
            <a:ext cx="60382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sz="3000" spc="-3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latin typeface="Times New Roman" pitchFamily="18" charset="0"/>
                <a:cs typeface="Times New Roman" pitchFamily="18" charset="0"/>
              </a:rPr>
              <a:t>Operations</a:t>
            </a:r>
            <a:r>
              <a:rPr sz="3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32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70178"/>
            <a:ext cx="5839460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  <a:tab pos="1803400" algn="l"/>
                <a:tab pos="2174875" algn="l"/>
                <a:tab pos="2797175" algn="l"/>
                <a:tab pos="3490595" algn="l"/>
                <a:tab pos="4522470" algn="l"/>
              </a:tabLst>
            </a:pPr>
            <a:r>
              <a:rPr sz="2400" b="1" spc="-5" dirty="0">
                <a:latin typeface="Arial"/>
                <a:cs typeface="Arial"/>
              </a:rPr>
              <a:t>rev</a:t>
            </a:r>
            <a:r>
              <a:rPr sz="2400" b="1" spc="5" dirty="0">
                <a:latin typeface="Arial"/>
                <a:cs typeface="Arial"/>
              </a:rPr>
              <a:t>e</a:t>
            </a:r>
            <a:r>
              <a:rPr sz="2400" b="1" spc="-5" dirty="0">
                <a:latin typeface="Arial"/>
                <a:cs typeface="Arial"/>
              </a:rPr>
              <a:t>r</a:t>
            </a:r>
            <a:r>
              <a:rPr sz="2400" b="1" spc="5" dirty="0">
                <a:latin typeface="Arial"/>
                <a:cs typeface="Arial"/>
              </a:rPr>
              <a:t>s</a:t>
            </a:r>
            <a:r>
              <a:rPr sz="2400" b="1" spc="-5" dirty="0">
                <a:latin typeface="Arial"/>
                <a:cs typeface="Arial"/>
              </a:rPr>
              <a:t>e()</a:t>
            </a:r>
            <a:r>
              <a:rPr sz="2400" b="1" dirty="0">
                <a:latin typeface="Arial"/>
                <a:cs typeface="Arial"/>
              </a:rPr>
              <a:t>	-	</a:t>
            </a:r>
            <a:r>
              <a:rPr sz="2400" spc="-5" dirty="0">
                <a:latin typeface="Arial MT"/>
                <a:cs typeface="Arial MT"/>
              </a:rPr>
              <a:t>A</a:t>
            </a:r>
            <a:r>
              <a:rPr sz="2400" dirty="0">
                <a:latin typeface="Arial MT"/>
                <a:cs typeface="Arial MT"/>
              </a:rPr>
              <a:t>s	the	</a:t>
            </a:r>
            <a:r>
              <a:rPr sz="2400" spc="-5" dirty="0">
                <a:latin typeface="Arial MT"/>
                <a:cs typeface="Arial MT"/>
              </a:rPr>
              <a:t>name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5" dirty="0">
                <a:latin typeface="Arial MT"/>
                <a:cs typeface="Arial MT"/>
              </a:rPr>
              <a:t>s</a:t>
            </a:r>
            <a:r>
              <a:rPr sz="2400" spc="-5" dirty="0">
                <a:latin typeface="Arial MT"/>
                <a:cs typeface="Arial MT"/>
              </a:rPr>
              <a:t>uggest</a:t>
            </a:r>
            <a:r>
              <a:rPr sz="2400" dirty="0">
                <a:latin typeface="Arial MT"/>
                <a:cs typeface="Arial MT"/>
              </a:rPr>
              <a:t>s,  sequence</a:t>
            </a:r>
            <a:r>
              <a:rPr sz="2400" spc="-5" dirty="0">
                <a:latin typeface="Arial MT"/>
                <a:cs typeface="Arial MT"/>
              </a:rPr>
              <a:t> is </a:t>
            </a:r>
            <a:r>
              <a:rPr sz="2400" dirty="0">
                <a:latin typeface="Arial MT"/>
                <a:cs typeface="Arial MT"/>
              </a:rPr>
              <a:t>reversed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method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3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StringBuffer</a:t>
            </a:r>
            <a:r>
              <a:rPr sz="2400" spc="-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reverse</a:t>
            </a:r>
            <a:r>
              <a:rPr sz="2400" spc="-10" dirty="0">
                <a:latin typeface="Courier New"/>
                <a:cs typeface="Courier New"/>
              </a:rPr>
              <a:t>()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17969" y="1170178"/>
            <a:ext cx="1988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sz="2400" dirty="0">
                <a:latin typeface="Arial MT"/>
                <a:cs typeface="Arial MT"/>
              </a:rPr>
              <a:t>t</a:t>
            </a:r>
            <a:r>
              <a:rPr sz="2400" spc="-10" dirty="0">
                <a:latin typeface="Arial MT"/>
                <a:cs typeface="Arial MT"/>
              </a:rPr>
              <a:t>h</a:t>
            </a:r>
            <a:r>
              <a:rPr sz="2400" spc="-5" dirty="0">
                <a:latin typeface="Arial MT"/>
                <a:cs typeface="Arial MT"/>
              </a:rPr>
              <a:t>e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5" dirty="0">
                <a:latin typeface="Arial MT"/>
                <a:cs typeface="Arial MT"/>
              </a:rPr>
              <a:t>chara</a:t>
            </a:r>
            <a:r>
              <a:rPr sz="2400" dirty="0">
                <a:latin typeface="Arial MT"/>
                <a:cs typeface="Arial MT"/>
              </a:rPr>
              <a:t>cter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962478"/>
            <a:ext cx="7296150" cy="98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indent="-2317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4475" algn="l"/>
              </a:tabLst>
            </a:pPr>
            <a:r>
              <a:rPr sz="2400" b="1" dirty="0">
                <a:latin typeface="Arial"/>
                <a:cs typeface="Arial"/>
              </a:rPr>
              <a:t>length()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5" dirty="0">
                <a:latin typeface="Arial"/>
                <a:cs typeface="Arial"/>
              </a:rPr>
              <a:t> </a:t>
            </a:r>
            <a:r>
              <a:rPr sz="2400" spc="-5" dirty="0">
                <a:latin typeface="Arial MT"/>
                <a:cs typeface="Arial MT"/>
              </a:rPr>
              <a:t>Used</a:t>
            </a:r>
            <a:r>
              <a:rPr sz="2400" dirty="0">
                <a:latin typeface="Arial MT"/>
                <a:cs typeface="Arial MT"/>
              </a:rPr>
              <a:t> 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" dirty="0">
                <a:latin typeface="Arial MT"/>
                <a:cs typeface="Arial MT"/>
              </a:rPr>
              <a:t> StringBuffer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2400" spc="-5" dirty="0">
                <a:latin typeface="Courier New"/>
                <a:cs typeface="Courier New"/>
              </a:rPr>
              <a:t>public</a:t>
            </a:r>
            <a:r>
              <a:rPr sz="2400" spc="-40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int</a:t>
            </a:r>
            <a:r>
              <a:rPr sz="2400" spc="-25" dirty="0">
                <a:latin typeface="Courier New"/>
                <a:cs typeface="Courier New"/>
              </a:rPr>
              <a:t> </a:t>
            </a:r>
            <a:r>
              <a:rPr sz="2400" b="1" spc="-10" dirty="0">
                <a:latin typeface="Courier New"/>
                <a:cs typeface="Courier New"/>
              </a:rPr>
              <a:t>length</a:t>
            </a:r>
            <a:r>
              <a:rPr sz="2400" spc="-10" dirty="0">
                <a:latin typeface="Courier New"/>
                <a:cs typeface="Courier New"/>
              </a:rPr>
              <a:t>()</a:t>
            </a:r>
            <a:endParaRPr sz="2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167766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Example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33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18666"/>
            <a:ext cx="6402070" cy="5257165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dirty="0">
                <a:latin typeface="Arial MT"/>
                <a:cs typeface="Arial MT"/>
              </a:rPr>
              <a:t>class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FullName{</a:t>
            </a:r>
            <a:endParaRPr sz="2200">
              <a:latin typeface="Arial MT"/>
              <a:cs typeface="Arial MT"/>
            </a:endParaRPr>
          </a:p>
          <a:p>
            <a:pPr marL="469900" marR="1398905">
              <a:lnSpc>
                <a:spcPct val="120000"/>
              </a:lnSpc>
            </a:pPr>
            <a:r>
              <a:rPr sz="2200" spc="-5" dirty="0">
                <a:latin typeface="Arial MT"/>
                <a:cs typeface="Arial MT"/>
              </a:rPr>
              <a:t>public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static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void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main(String[]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args){ </a:t>
            </a:r>
            <a:r>
              <a:rPr sz="2200" spc="-59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StringBuffer sb=new</a:t>
            </a:r>
            <a:r>
              <a:rPr sz="2200" spc="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StringBuffer();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String surname="Mallapudi";</a:t>
            </a:r>
            <a:endParaRPr sz="2200">
              <a:latin typeface="Arial MT"/>
              <a:cs typeface="Arial MT"/>
            </a:endParaRPr>
          </a:p>
          <a:p>
            <a:pPr marL="469900" marR="1863089">
              <a:lnSpc>
                <a:spcPct val="120000"/>
              </a:lnSpc>
            </a:pPr>
            <a:r>
              <a:rPr sz="2200" spc="-5" dirty="0">
                <a:latin typeface="Arial MT"/>
                <a:cs typeface="Arial MT"/>
              </a:rPr>
              <a:t>String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lastname="vijaya";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sb.append(surname);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System.out.println("Name:</a:t>
            </a:r>
            <a:r>
              <a:rPr sz="2200" spc="5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"+sb); </a:t>
            </a:r>
            <a:r>
              <a:rPr sz="2200" spc="-6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n=surname.length(); 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sb.insert(n,lastname);</a:t>
            </a:r>
            <a:endParaRPr sz="2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Arial MT"/>
                <a:cs typeface="Arial MT"/>
              </a:rPr>
              <a:t>System.out.println("Full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name: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"+sb);</a:t>
            </a:r>
            <a:endParaRPr sz="2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Arial MT"/>
                <a:cs typeface="Arial MT"/>
              </a:rPr>
              <a:t>System.out.println("In</a:t>
            </a:r>
            <a:r>
              <a:rPr sz="2200" spc="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reverse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=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"+sb.reverse());</a:t>
            </a:r>
            <a:endParaRPr sz="22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2200" spc="-5" dirty="0"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Arial MT"/>
                <a:cs typeface="Arial MT"/>
              </a:rPr>
              <a:t>}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98247"/>
            <a:ext cx="60382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StringBuffer Operations</a:t>
            </a:r>
            <a:r>
              <a:rPr sz="3000"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(Contd.).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34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3840" marR="5715" indent="-231775">
              <a:lnSpc>
                <a:spcPct val="100000"/>
              </a:lnSpc>
              <a:spcBef>
                <a:spcPts val="100"/>
              </a:spcBef>
              <a:tabLst>
                <a:tab pos="1568450" algn="l"/>
                <a:tab pos="1871980" algn="l"/>
                <a:tab pos="2456180" algn="l"/>
                <a:tab pos="3079115" algn="l"/>
                <a:tab pos="3703954" algn="l"/>
                <a:tab pos="4262120" algn="l"/>
                <a:tab pos="5513070" algn="l"/>
                <a:tab pos="5897880" algn="l"/>
                <a:tab pos="6454140" algn="l"/>
              </a:tabLst>
            </a:pPr>
            <a:r>
              <a:rPr b="1" spc="-5" dirty="0">
                <a:latin typeface="Times New Roman" pitchFamily="18" charset="0"/>
                <a:cs typeface="Times New Roman" pitchFamily="18" charset="0"/>
              </a:rPr>
              <a:t>ca</a:t>
            </a:r>
            <a:r>
              <a:rPr b="1" spc="-15" dirty="0">
                <a:latin typeface="Times New Roman" pitchFamily="18" charset="0"/>
                <a:cs typeface="Times New Roman" pitchFamily="18" charset="0"/>
              </a:rPr>
              <a:t>p</a:t>
            </a:r>
            <a:r>
              <a:rPr b="1" dirty="0">
                <a:latin typeface="Times New Roman" pitchFamily="18" charset="0"/>
                <a:cs typeface="Times New Roman" pitchFamily="18" charset="0"/>
              </a:rPr>
              <a:t>aci</a:t>
            </a:r>
            <a:r>
              <a:rPr b="1" spc="15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b="1" spc="-35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b="1" dirty="0">
                <a:latin typeface="Times New Roman" pitchFamily="18" charset="0"/>
                <a:cs typeface="Times New Roman" pitchFamily="18" charset="0"/>
              </a:rPr>
              <a:t>()	–	</a:t>
            </a:r>
            <a:r>
              <a:rPr spc="-50" dirty="0">
                <a:latin typeface="Times New Roman" pitchFamily="18" charset="0"/>
                <a:cs typeface="Times New Roman" pitchFamily="18" charset="0"/>
              </a:rPr>
              <a:t>W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e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can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the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pc="-2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pac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ity	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f	t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StringBu</a:t>
            </a:r>
            <a:r>
              <a:rPr spc="-45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fer  using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method</a:t>
            </a:r>
          </a:p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>
                <a:latin typeface="Times New Roman" pitchFamily="18" charset="0"/>
                <a:cs typeface="Times New Roman" pitchFamily="18" charset="0"/>
              </a:rPr>
              <a:t>What</a:t>
            </a:r>
            <a:r>
              <a:rPr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is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capacity ?</a:t>
            </a:r>
          </a:p>
          <a:p>
            <a:pPr marL="243840" marR="6350" indent="-231775">
              <a:lnSpc>
                <a:spcPct val="100000"/>
              </a:lnSpc>
              <a:spcBef>
                <a:spcPts val="580"/>
              </a:spcBef>
              <a:tabLst>
                <a:tab pos="702945" algn="l"/>
                <a:tab pos="1987550" algn="l"/>
                <a:tab pos="2372360" algn="l"/>
                <a:tab pos="2960370" algn="l"/>
                <a:tab pos="4143375" algn="l"/>
                <a:tab pos="4562475" algn="l"/>
                <a:tab pos="5743575" algn="l"/>
                <a:tab pos="7113905" algn="l"/>
                <a:tab pos="7633334" algn="l"/>
              </a:tabLst>
            </a:pPr>
            <a:r>
              <a:rPr spc="-1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e	capacity	</a:t>
            </a:r>
            <a:r>
              <a:rPr spc="-1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the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amount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f	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tor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age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availa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le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	for	the  characters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that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have</a:t>
            </a:r>
            <a:r>
              <a:rPr spc="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just</a:t>
            </a:r>
            <a:r>
              <a:rPr spc="-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been</a:t>
            </a:r>
            <a:r>
              <a:rPr spc="1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inserted</a:t>
            </a: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sz="2000" spc="-2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int</a:t>
            </a:r>
            <a:r>
              <a:rPr sz="2000" spc="-2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capacity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()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Times New Roman" pitchFamily="18" charset="0"/>
              <a:cs typeface="Times New Roman" pitchFamily="18" charset="0"/>
            </a:endParaRPr>
          </a:p>
          <a:p>
            <a:pPr marL="82550">
              <a:lnSpc>
                <a:spcPct val="100000"/>
              </a:lnSpc>
            </a:pPr>
            <a:r>
              <a:rPr b="1" dirty="0">
                <a:latin typeface="Times New Roman" pitchFamily="18" charset="0"/>
                <a:cs typeface="Times New Roman" pitchFamily="18" charset="0"/>
              </a:rPr>
              <a:t>charAt()</a:t>
            </a:r>
            <a:r>
              <a:rPr b="1" spc="8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sz="2000" b="1" spc="1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Used</a:t>
            </a:r>
            <a:r>
              <a:rPr spc="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to</a:t>
            </a:r>
            <a:r>
              <a:rPr spc="27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find</a:t>
            </a:r>
            <a:r>
              <a:rPr spc="2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the</a:t>
            </a:r>
            <a:r>
              <a:rPr spc="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character</a:t>
            </a:r>
            <a:r>
              <a:rPr spc="29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at</a:t>
            </a:r>
            <a:r>
              <a:rPr spc="29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spc="28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pc="-5" dirty="0">
                <a:latin typeface="Times New Roman" pitchFamily="18" charset="0"/>
                <a:cs typeface="Times New Roman" pitchFamily="18" charset="0"/>
              </a:rPr>
              <a:t>particular</a:t>
            </a:r>
            <a:r>
              <a:rPr spc="30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index</a:t>
            </a:r>
            <a:endParaRPr sz="2000">
              <a:latin typeface="Times New Roman" pitchFamily="18" charset="0"/>
              <a:cs typeface="Times New Roman" pitchFamily="18" charset="0"/>
            </a:endParaRPr>
          </a:p>
          <a:p>
            <a:pPr marL="243840">
              <a:lnSpc>
                <a:spcPct val="100000"/>
              </a:lnSpc>
              <a:spcBef>
                <a:spcPts val="5"/>
              </a:spcBef>
            </a:pPr>
            <a:r>
              <a:rPr spc="-5" dirty="0">
                <a:latin typeface="Times New Roman" pitchFamily="18" charset="0"/>
                <a:cs typeface="Times New Roman" pitchFamily="18" charset="0"/>
              </a:rPr>
              <a:t>position</a:t>
            </a: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2000" spc="-5" dirty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char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sz="2000" b="1" spc="-5" dirty="0">
                <a:latin typeface="Times New Roman" pitchFamily="18" charset="0"/>
                <a:cs typeface="Times New Roman" pitchFamily="18" charset="0"/>
              </a:rPr>
              <a:t>harAt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(int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5" dirty="0">
                <a:latin typeface="Times New Roman" pitchFamily="18" charset="0"/>
                <a:cs typeface="Times New Roman" pitchFamily="18" charset="0"/>
              </a:rPr>
              <a:t>index)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167766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Times New Roman" pitchFamily="18" charset="0"/>
                <a:cs typeface="Times New Roman" pitchFamily="18" charset="0"/>
              </a:rPr>
              <a:t>Example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35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82879" y="988212"/>
            <a:ext cx="7232650" cy="56813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5" dirty="0">
                <a:latin typeface="Arial MT"/>
                <a:cs typeface="Arial MT"/>
              </a:rPr>
              <a:t>public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class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stringBuffer{</a:t>
            </a:r>
            <a:endParaRPr sz="1600">
              <a:latin typeface="Arial MT"/>
              <a:cs typeface="Arial MT"/>
            </a:endParaRPr>
          </a:p>
          <a:p>
            <a:pPr marL="927100" marR="1863725" indent="-457834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public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static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void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main(String[]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args)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throws</a:t>
            </a:r>
            <a:r>
              <a:rPr sz="1600" spc="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Exception{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 str1="Hello";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80"/>
              </a:spcBef>
            </a:pPr>
            <a:r>
              <a:rPr sz="1600" spc="-10" dirty="0">
                <a:latin typeface="Arial MT"/>
                <a:cs typeface="Arial MT"/>
              </a:rPr>
              <a:t>try{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str1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+=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",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This</a:t>
            </a:r>
            <a:r>
              <a:rPr sz="1600" spc="45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program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 a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example of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SringBuffer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class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 </a:t>
            </a:r>
            <a:r>
              <a:rPr sz="1600" dirty="0">
                <a:latin typeface="Arial MT"/>
                <a:cs typeface="Arial MT"/>
              </a:rPr>
              <a:t>it's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functions.";</a:t>
            </a:r>
            <a:endParaRPr sz="1600">
              <a:latin typeface="Arial MT"/>
              <a:cs typeface="Arial MT"/>
            </a:endParaRPr>
          </a:p>
          <a:p>
            <a:pPr marL="1384300" marR="2169795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//Create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object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class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 strbuf1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=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new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StringBuffer();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System.out.print(strbuf1.length()+"\n");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strbuf1.append(str1);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strbuf1.delete(0,str1.length());</a:t>
            </a:r>
            <a:endParaRPr sz="1600">
              <a:latin typeface="Arial MT"/>
              <a:cs typeface="Arial MT"/>
            </a:endParaRPr>
          </a:p>
          <a:p>
            <a:pPr marL="1384300" marR="340487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//append()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strbuf1.append("Hello");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strbuf1.append("World");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</a:t>
            </a:r>
            <a:endParaRPr sz="1600">
              <a:latin typeface="Arial MT"/>
              <a:cs typeface="Arial MT"/>
            </a:endParaRPr>
          </a:p>
          <a:p>
            <a:pPr marL="1384300" marR="355981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//insert()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strbuf1.insert(5,"_Java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");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560"/>
              </a:spcBef>
            </a:pPr>
            <a:r>
              <a:rPr sz="1600" spc="-5" dirty="0">
                <a:latin typeface="Arial MT"/>
                <a:cs typeface="Arial MT"/>
              </a:rPr>
              <a:t>System.out.println(strbuf1</a:t>
            </a:r>
            <a:r>
              <a:rPr sz="2400" spc="-5" dirty="0">
                <a:solidFill>
                  <a:srgbClr val="585858"/>
                </a:solidFill>
                <a:latin typeface="Arial MT"/>
                <a:cs typeface="Arial MT"/>
              </a:rPr>
              <a:t>);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409" y="1000480"/>
            <a:ext cx="5425440" cy="3970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051300">
              <a:lnSpc>
                <a:spcPct val="144300"/>
              </a:lnSpc>
              <a:spcBef>
                <a:spcPts val="95"/>
              </a:spcBef>
            </a:pPr>
            <a:r>
              <a:rPr sz="1400" dirty="0">
                <a:latin typeface="Arial MT"/>
                <a:cs typeface="Arial MT"/>
              </a:rPr>
              <a:t>//reverse()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strbuf</a:t>
            </a:r>
            <a:r>
              <a:rPr sz="1400" spc="-15" dirty="0">
                <a:latin typeface="Arial MT"/>
                <a:cs typeface="Arial MT"/>
              </a:rPr>
              <a:t>1</a:t>
            </a:r>
            <a:r>
              <a:rPr sz="1400" spc="-10" dirty="0">
                <a:latin typeface="Arial MT"/>
                <a:cs typeface="Arial MT"/>
              </a:rPr>
              <a:t>.</a:t>
            </a:r>
            <a:r>
              <a:rPr sz="1400" dirty="0">
                <a:latin typeface="Arial MT"/>
                <a:cs typeface="Arial MT"/>
              </a:rPr>
              <a:t>re</a:t>
            </a:r>
            <a:r>
              <a:rPr sz="1400" spc="-20" dirty="0">
                <a:latin typeface="Arial MT"/>
                <a:cs typeface="Arial MT"/>
              </a:rPr>
              <a:t>v</a:t>
            </a:r>
            <a:r>
              <a:rPr sz="1400" dirty="0">
                <a:latin typeface="Arial MT"/>
                <a:cs typeface="Arial MT"/>
              </a:rPr>
              <a:t>er</a:t>
            </a:r>
            <a:r>
              <a:rPr sz="1400" spc="-10" dirty="0">
                <a:latin typeface="Arial MT"/>
                <a:cs typeface="Arial MT"/>
              </a:rPr>
              <a:t>s</a:t>
            </a:r>
            <a:r>
              <a:rPr sz="1400" spc="5" dirty="0">
                <a:latin typeface="Arial MT"/>
                <a:cs typeface="Arial MT"/>
              </a:rPr>
              <a:t>e</a:t>
            </a:r>
            <a:r>
              <a:rPr sz="1400" dirty="0">
                <a:latin typeface="Arial MT"/>
                <a:cs typeface="Arial MT"/>
              </a:rPr>
              <a:t>(</a:t>
            </a:r>
            <a:r>
              <a:rPr sz="1400" spc="-15" dirty="0">
                <a:latin typeface="Arial MT"/>
                <a:cs typeface="Arial MT"/>
              </a:rPr>
              <a:t>)</a:t>
            </a:r>
            <a:r>
              <a:rPr sz="1400" dirty="0">
                <a:latin typeface="Arial MT"/>
                <a:cs typeface="Arial MT"/>
              </a:rPr>
              <a:t>;</a:t>
            </a:r>
            <a:endParaRPr sz="1400">
              <a:latin typeface="Arial MT"/>
              <a:cs typeface="Arial MT"/>
            </a:endParaRPr>
          </a:p>
          <a:p>
            <a:pPr marL="1384300" marR="1068070">
              <a:lnSpc>
                <a:spcPct val="120000"/>
              </a:lnSpc>
              <a:spcBef>
                <a:spcPts val="5"/>
              </a:spcBef>
            </a:pPr>
            <a:r>
              <a:rPr sz="1400" spc="-5" dirty="0">
                <a:latin typeface="Arial MT"/>
                <a:cs typeface="Arial MT"/>
              </a:rPr>
              <a:t>System.out.print("Reversed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string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");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System.out.println(strbuf1);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strbuf1.reverse(); </a:t>
            </a:r>
            <a:r>
              <a:rPr sz="140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System.out.println(strbuf1);</a:t>
            </a:r>
            <a:endParaRPr sz="1400">
              <a:latin typeface="Arial MT"/>
              <a:cs typeface="Arial MT"/>
            </a:endParaRPr>
          </a:p>
          <a:p>
            <a:pPr marL="1384300" marR="2220595">
              <a:lnSpc>
                <a:spcPct val="120000"/>
              </a:lnSpc>
            </a:pPr>
            <a:r>
              <a:rPr sz="1400" dirty="0">
                <a:latin typeface="Arial MT"/>
                <a:cs typeface="Arial MT"/>
              </a:rPr>
              <a:t>//setCharAt() </a:t>
            </a:r>
            <a:r>
              <a:rPr sz="1400" spc="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strbuf1.setCharAt(5,'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');</a:t>
            </a:r>
            <a:endParaRPr sz="14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40"/>
              </a:spcBef>
            </a:pPr>
            <a:r>
              <a:rPr sz="1400" spc="-5" dirty="0">
                <a:latin typeface="Arial MT"/>
                <a:cs typeface="Arial MT"/>
              </a:rPr>
              <a:t>System.out.println(strbuf1);</a:t>
            </a:r>
            <a:endParaRPr sz="14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Arial MT"/>
                <a:cs typeface="Arial MT"/>
              </a:rPr>
              <a:t>//charAt()</a:t>
            </a:r>
            <a:endParaRPr sz="1400">
              <a:latin typeface="Arial MT"/>
              <a:cs typeface="Arial MT"/>
            </a:endParaRPr>
          </a:p>
          <a:p>
            <a:pPr marL="1384300" marR="379095">
              <a:lnSpc>
                <a:spcPct val="120000"/>
              </a:lnSpc>
            </a:pPr>
            <a:r>
              <a:rPr sz="1400" spc="-5" dirty="0">
                <a:latin typeface="Arial MT"/>
                <a:cs typeface="Arial MT"/>
              </a:rPr>
              <a:t>System.out.print("Character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at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6th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position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"); </a:t>
            </a:r>
            <a:r>
              <a:rPr sz="1400" spc="-370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System.out.println(strbuf1.charAt(6));</a:t>
            </a:r>
            <a:endParaRPr sz="14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35"/>
              </a:spcBef>
            </a:pPr>
            <a:r>
              <a:rPr sz="1400" spc="-5" dirty="0">
                <a:latin typeface="Arial MT"/>
                <a:cs typeface="Arial MT"/>
              </a:rPr>
              <a:t>//substring()</a:t>
            </a:r>
            <a:endParaRPr sz="1400">
              <a:latin typeface="Arial MT"/>
              <a:cs typeface="Arial MT"/>
            </a:endParaRPr>
          </a:p>
          <a:p>
            <a:pPr marL="1384300" marR="5080">
              <a:lnSpc>
                <a:spcPts val="2020"/>
              </a:lnSpc>
              <a:spcBef>
                <a:spcPts val="95"/>
              </a:spcBef>
            </a:pPr>
            <a:r>
              <a:rPr sz="1400" spc="-5" dirty="0">
                <a:latin typeface="Arial MT"/>
                <a:cs typeface="Arial MT"/>
              </a:rPr>
              <a:t>System.out.print("Substring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from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position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3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6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: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"); </a:t>
            </a:r>
            <a:r>
              <a:rPr sz="1400" spc="-375" dirty="0">
                <a:latin typeface="Arial MT"/>
                <a:cs typeface="Arial MT"/>
              </a:rPr>
              <a:t> </a:t>
            </a:r>
            <a:r>
              <a:rPr sz="1400" spc="-5" dirty="0">
                <a:latin typeface="Arial MT"/>
                <a:cs typeface="Arial MT"/>
              </a:rPr>
              <a:t>System.out.println(strbuf1.substring(3,7));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36</a:t>
            </a:fld>
            <a:endParaRPr spc="-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5459" y="973416"/>
            <a:ext cx="6114415" cy="4416425"/>
          </a:xfrm>
          <a:prstGeom prst="rect">
            <a:avLst/>
          </a:prstGeom>
        </p:spPr>
        <p:txBody>
          <a:bodyPr vert="horz" wrap="square" lIns="0" tIns="622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9"/>
              </a:spcBef>
            </a:pPr>
            <a:r>
              <a:rPr sz="1600" spc="-5" dirty="0">
                <a:latin typeface="Arial MT"/>
                <a:cs typeface="Arial MT"/>
              </a:rPr>
              <a:t>//deleteCharAt()</a:t>
            </a:r>
            <a:endParaRPr sz="1600">
              <a:latin typeface="Arial MT"/>
              <a:cs typeface="Arial MT"/>
            </a:endParaRPr>
          </a:p>
          <a:p>
            <a:pPr marL="1384300" marR="228600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strbuf1.deleteCharAt(3);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//capacity()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84"/>
              </a:spcBef>
            </a:pPr>
            <a:r>
              <a:rPr sz="1600" spc="-5" dirty="0">
                <a:latin typeface="Arial MT"/>
                <a:cs typeface="Arial MT"/>
              </a:rPr>
              <a:t>System.out.print("Capacity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</a:t>
            </a:r>
            <a:r>
              <a:rPr sz="1600" spc="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object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:</a:t>
            </a:r>
            <a:r>
              <a:rPr sz="1600" spc="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");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Arial MT"/>
                <a:cs typeface="Arial MT"/>
              </a:rPr>
              <a:t>System.out.println(strbuf1.capacity());</a:t>
            </a:r>
            <a:endParaRPr sz="1600">
              <a:latin typeface="Arial MT"/>
              <a:cs typeface="Arial MT"/>
            </a:endParaRPr>
          </a:p>
          <a:p>
            <a:pPr marL="1384300" marR="1764664">
              <a:lnSpc>
                <a:spcPct val="120000"/>
              </a:lnSpc>
              <a:spcBef>
                <a:spcPts val="5"/>
              </a:spcBef>
            </a:pPr>
            <a:r>
              <a:rPr sz="1600" spc="-5" dirty="0">
                <a:latin typeface="Arial MT"/>
                <a:cs typeface="Arial MT"/>
              </a:rPr>
              <a:t>//delete()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 length()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strbuf1.delete(6,strbuf1.length());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84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384300" marR="1169035" indent="-457200">
              <a:lnSpc>
                <a:spcPts val="2310"/>
              </a:lnSpc>
              <a:spcBef>
                <a:spcPts val="135"/>
              </a:spcBef>
            </a:pPr>
            <a:r>
              <a:rPr sz="1600" spc="-5" dirty="0">
                <a:latin typeface="Arial MT"/>
                <a:cs typeface="Arial MT"/>
              </a:rPr>
              <a:t>catch(StringIndexOutOfBoundsException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e){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System.out.println(e.getMessage());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40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37</a:t>
            </a:fld>
            <a:endParaRPr spc="-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167766"/>
            <a:ext cx="15925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38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847496"/>
            <a:ext cx="6114415" cy="441579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spc="-5" dirty="0">
                <a:latin typeface="Arial MT"/>
                <a:cs typeface="Arial MT"/>
              </a:rPr>
              <a:t>//deleteCharAt()</a:t>
            </a:r>
            <a:endParaRPr sz="1600">
              <a:latin typeface="Arial MT"/>
              <a:cs typeface="Arial MT"/>
            </a:endParaRPr>
          </a:p>
          <a:p>
            <a:pPr marL="1384300" marR="228600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strbuf1.deleteCharAt(3);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</a:t>
            </a:r>
            <a:endParaRPr sz="1600">
              <a:latin typeface="Arial MT"/>
              <a:cs typeface="Arial MT"/>
            </a:endParaRPr>
          </a:p>
          <a:p>
            <a:pPr marL="13843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//capacity()</a:t>
            </a:r>
            <a:endParaRPr sz="1600">
              <a:latin typeface="Arial MT"/>
              <a:cs typeface="Arial MT"/>
            </a:endParaRPr>
          </a:p>
          <a:p>
            <a:pPr marL="1384300" marR="508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System.out.print("Capacity</a:t>
            </a:r>
            <a:r>
              <a:rPr sz="1600" spc="4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StringBuffer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object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:</a:t>
            </a:r>
            <a:r>
              <a:rPr sz="1600" spc="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");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System.out.println(strbuf1.capacity());</a:t>
            </a:r>
            <a:endParaRPr sz="1600">
              <a:latin typeface="Arial MT"/>
              <a:cs typeface="Arial MT"/>
            </a:endParaRPr>
          </a:p>
          <a:p>
            <a:pPr marL="1384300" marR="1764664">
              <a:lnSpc>
                <a:spcPts val="2310"/>
              </a:lnSpc>
              <a:spcBef>
                <a:spcPts val="135"/>
              </a:spcBef>
            </a:pPr>
            <a:r>
              <a:rPr sz="1600" spc="-5" dirty="0">
                <a:latin typeface="Arial MT"/>
                <a:cs typeface="Arial MT"/>
              </a:rPr>
              <a:t>//delete()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and length() </a:t>
            </a:r>
            <a:r>
              <a:rPr sz="160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strbuf1.delete(6,strbuf1.length()); </a:t>
            </a:r>
            <a:r>
              <a:rPr sz="1600" spc="-43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System.out.println(strbuf1);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229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384300" marR="1169035" indent="-457200">
              <a:lnSpc>
                <a:spcPct val="120000"/>
              </a:lnSpc>
            </a:pPr>
            <a:r>
              <a:rPr sz="1600" spc="-5" dirty="0">
                <a:latin typeface="Arial MT"/>
                <a:cs typeface="Arial MT"/>
              </a:rPr>
              <a:t>catch(StringIndexOutOfBoundsException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e){ </a:t>
            </a:r>
            <a:r>
              <a:rPr sz="1600" spc="-42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System.out.println(e.getMessage());</a:t>
            </a:r>
            <a:endParaRPr sz="16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 MT"/>
                <a:cs typeface="Arial MT"/>
              </a:rPr>
              <a:t>}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9292" y="167766"/>
            <a:ext cx="7119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String</a:t>
            </a:r>
            <a:r>
              <a:rPr sz="3000" spc="-5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3000" spc="-5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StringBuffer</a:t>
            </a:r>
            <a:r>
              <a:rPr sz="3000" spc="-10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3000" spc="-5" dirty="0">
                <a:solidFill>
                  <a:srgbClr val="585858"/>
                </a:solidFill>
                <a:latin typeface="Times New Roman" pitchFamily="18" charset="0"/>
                <a:cs typeface="Times New Roman" pitchFamily="18" charset="0"/>
              </a:rPr>
              <a:t>Documentation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39</a:t>
            </a:fld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86331"/>
            <a:ext cx="8018780" cy="22383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840" marR="675640" indent="-231775"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Char char="•"/>
              <a:tabLst>
                <a:tab pos="243840" algn="l"/>
                <a:tab pos="244475" algn="l"/>
              </a:tabLst>
            </a:pP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The</a:t>
            </a:r>
            <a:r>
              <a:rPr sz="22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85858"/>
                </a:solidFill>
                <a:latin typeface="Arial MT"/>
                <a:cs typeface="Arial MT"/>
              </a:rPr>
              <a:t>links</a:t>
            </a:r>
            <a:r>
              <a:rPr sz="2200" spc="-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given</a:t>
            </a:r>
            <a:r>
              <a:rPr sz="2200" spc="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below</a:t>
            </a:r>
            <a:r>
              <a:rPr sz="22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will give</a:t>
            </a:r>
            <a:r>
              <a:rPr sz="2200" spc="2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you</a:t>
            </a:r>
            <a:r>
              <a:rPr sz="2200" spc="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a</a:t>
            </a:r>
            <a:r>
              <a:rPr sz="22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full picture</a:t>
            </a:r>
            <a:r>
              <a:rPr sz="22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about</a:t>
            </a:r>
            <a:r>
              <a:rPr sz="2200" spc="1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the </a:t>
            </a:r>
            <a:r>
              <a:rPr sz="2200" spc="-59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methods</a:t>
            </a:r>
            <a:r>
              <a:rPr sz="22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85858"/>
                </a:solidFill>
                <a:latin typeface="Arial MT"/>
                <a:cs typeface="Arial MT"/>
              </a:rPr>
              <a:t>present</a:t>
            </a:r>
            <a:r>
              <a:rPr sz="22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in</a:t>
            </a:r>
            <a:r>
              <a:rPr sz="22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String</a:t>
            </a:r>
            <a:r>
              <a:rPr sz="2200" spc="5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and</a:t>
            </a:r>
            <a:r>
              <a:rPr sz="220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585858"/>
                </a:solidFill>
                <a:latin typeface="Arial MT"/>
                <a:cs typeface="Arial MT"/>
              </a:rPr>
              <a:t>StringBuffer</a:t>
            </a:r>
            <a:r>
              <a:rPr sz="2200" spc="10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585858"/>
                </a:solidFill>
                <a:latin typeface="Arial MT"/>
                <a:cs typeface="Arial MT"/>
              </a:rPr>
              <a:t>class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6FC0"/>
              </a:buClr>
              <a:buFont typeface="Arial MT"/>
              <a:buChar char="•"/>
            </a:pPr>
            <a:endParaRPr sz="3200">
              <a:latin typeface="Arial MT"/>
              <a:cs typeface="Arial MT"/>
            </a:endParaRPr>
          </a:p>
          <a:p>
            <a:pPr marL="243840" indent="-231775">
              <a:lnSpc>
                <a:spcPct val="100000"/>
              </a:lnSpc>
              <a:buClr>
                <a:srgbClr val="006FC0"/>
              </a:buClr>
              <a:buChar char="•"/>
              <a:tabLst>
                <a:tab pos="243840" algn="l"/>
                <a:tab pos="244475" algn="l"/>
              </a:tabLst>
            </a:pPr>
            <a:r>
              <a:rPr sz="2200" u="heavy" spc="-5" dirty="0">
                <a:solidFill>
                  <a:srgbClr val="6A6368"/>
                </a:solidFill>
                <a:uFill>
                  <a:solidFill>
                    <a:srgbClr val="6A6368"/>
                  </a:solidFill>
                </a:uFill>
                <a:latin typeface="Arial MT"/>
                <a:cs typeface="Arial MT"/>
                <a:hlinkClick r:id="rId2"/>
              </a:rPr>
              <a:t>https://docs.oracle.com/javase/7/docs/api/java/lang/String.html</a:t>
            </a:r>
            <a:endParaRPr sz="2200">
              <a:latin typeface="Arial MT"/>
              <a:cs typeface="Arial MT"/>
            </a:endParaRPr>
          </a:p>
          <a:p>
            <a:pPr marL="243840" marR="5080" indent="-231775">
              <a:lnSpc>
                <a:spcPct val="100000"/>
              </a:lnSpc>
              <a:spcBef>
                <a:spcPts val="530"/>
              </a:spcBef>
              <a:buClr>
                <a:srgbClr val="006FC0"/>
              </a:buClr>
              <a:buChar char="•"/>
              <a:tabLst>
                <a:tab pos="243840" algn="l"/>
                <a:tab pos="244475" algn="l"/>
              </a:tabLst>
            </a:pPr>
            <a:r>
              <a:rPr sz="2200" u="heavy" spc="-5" dirty="0">
                <a:solidFill>
                  <a:srgbClr val="6A6368"/>
                </a:solidFill>
                <a:uFill>
                  <a:solidFill>
                    <a:srgbClr val="6A6368"/>
                  </a:solidFill>
                </a:uFill>
                <a:latin typeface="Arial MT"/>
                <a:cs typeface="Arial MT"/>
                <a:hlinkClick r:id="rId3"/>
              </a:rPr>
              <a:t>https://docs.oracle.com/javase/7/docs/api/java/lang/StringBuffe </a:t>
            </a:r>
            <a:r>
              <a:rPr sz="2200" spc="-600" dirty="0">
                <a:solidFill>
                  <a:srgbClr val="6A6368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2200" u="heavy" spc="-25" dirty="0">
                <a:solidFill>
                  <a:srgbClr val="6A6368"/>
                </a:solidFill>
                <a:uFill>
                  <a:solidFill>
                    <a:srgbClr val="6A6368"/>
                  </a:solidFill>
                </a:uFill>
                <a:latin typeface="Arial MT"/>
                <a:cs typeface="Arial MT"/>
                <a:hlinkClick r:id="rId3"/>
              </a:rPr>
              <a:t>r.html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943" y="174447"/>
            <a:ext cx="85026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Qu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z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2716" y="933704"/>
            <a:ext cx="8263255" cy="18408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What</a:t>
            </a:r>
            <a:r>
              <a:rPr sz="2200" b="1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is</a:t>
            </a:r>
            <a:r>
              <a:rPr sz="2200" b="1" u="heavy" spc="-1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</a:t>
            </a:r>
            <a:r>
              <a:rPr sz="2200" b="1" u="heavy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output</a:t>
            </a:r>
            <a:r>
              <a:rPr sz="2200" b="1" u="heavy" spc="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200" b="1" u="heavy" spc="-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?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1800" spc="-10" dirty="0">
                <a:latin typeface="Courier New"/>
                <a:cs typeface="Courier New"/>
              </a:rPr>
              <a:t>class</a:t>
            </a:r>
            <a:r>
              <a:rPr sz="1800" spc="-4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StringExample</a:t>
            </a:r>
            <a:r>
              <a:rPr sz="1800" spc="-3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 marR="1644014" indent="-226060">
              <a:lnSpc>
                <a:spcPct val="120000"/>
              </a:lnSpc>
            </a:pPr>
            <a:r>
              <a:rPr sz="1800" spc="-10" dirty="0">
                <a:latin typeface="Courier New"/>
                <a:cs typeface="Courier New"/>
              </a:rPr>
              <a:t>public</a:t>
            </a:r>
            <a:r>
              <a:rPr sz="1800" spc="17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static</a:t>
            </a:r>
            <a:r>
              <a:rPr sz="1800" spc="1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void</a:t>
            </a:r>
            <a:r>
              <a:rPr sz="1800" spc="16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main(String[]</a:t>
            </a:r>
            <a:r>
              <a:rPr sz="1800" spc="165" dirty="0">
                <a:latin typeface="Courier New"/>
                <a:cs typeface="Courier New"/>
              </a:rPr>
              <a:t> </a:t>
            </a:r>
            <a:r>
              <a:rPr sz="1800" spc="-5" dirty="0">
                <a:latin typeface="Courier New"/>
                <a:cs typeface="Courier New"/>
              </a:rPr>
              <a:t>args)</a:t>
            </a:r>
            <a:r>
              <a:rPr sz="1800" spc="16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{ </a:t>
            </a:r>
            <a:r>
              <a:rPr sz="1800" spc="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 st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new</a:t>
            </a:r>
            <a:r>
              <a:rPr sz="1800" spc="-25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String("Wipro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Technologies");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ourier New"/>
                <a:cs typeface="Courier New"/>
              </a:rPr>
              <a:t>StringBuffer</a:t>
            </a:r>
            <a:r>
              <a:rPr sz="180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sb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=</a:t>
            </a:r>
            <a:r>
              <a:rPr sz="1800" spc="-10" dirty="0">
                <a:latin typeface="Courier New"/>
                <a:cs typeface="Courier New"/>
              </a:rPr>
              <a:t> new</a:t>
            </a:r>
            <a:r>
              <a:rPr sz="1800" spc="-3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StringBuffer("Wipro</a:t>
            </a:r>
            <a:r>
              <a:rPr sz="1800" spc="-20" dirty="0">
                <a:latin typeface="Courier New"/>
                <a:cs typeface="Courier New"/>
              </a:rPr>
              <a:t> </a:t>
            </a:r>
            <a:r>
              <a:rPr sz="1800" spc="-10" dirty="0">
                <a:latin typeface="Courier New"/>
                <a:cs typeface="Courier New"/>
              </a:rPr>
              <a:t>Technologies");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40866" y="2854892"/>
          <a:ext cx="4980304" cy="9177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0750"/>
                <a:gridCol w="1092835"/>
                <a:gridCol w="273050"/>
                <a:gridCol w="2693669"/>
              </a:tblGrid>
              <a:tr h="293945">
                <a:tc>
                  <a:txBody>
                    <a:bodyPr/>
                    <a:lstStyle/>
                    <a:p>
                      <a:pPr marL="3175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result1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186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st.substring(6,12);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547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result2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sb.substring(6);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94217">
                <a:tc>
                  <a:txBody>
                    <a:bodyPr/>
                    <a:lstStyle/>
                    <a:p>
                      <a:pPr marL="31750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String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result3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dirty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ts val="2135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sb.substring(6,12);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02716" y="3736975"/>
            <a:ext cx="8401050" cy="189103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530"/>
              </a:spcBef>
            </a:pPr>
            <a:r>
              <a:rPr sz="1800" spc="-10" dirty="0">
                <a:latin typeface="Courier New"/>
                <a:cs typeface="Courier New"/>
              </a:rPr>
              <a:t>System.</a:t>
            </a:r>
            <a:r>
              <a:rPr sz="1800" i="1" spc="-10" dirty="0">
                <a:latin typeface="Courier New"/>
                <a:cs typeface="Courier New"/>
              </a:rPr>
              <a:t>out.println("Substring</a:t>
            </a:r>
            <a:r>
              <a:rPr sz="1800" i="1" spc="-25" dirty="0">
                <a:latin typeface="Courier New"/>
                <a:cs typeface="Courier New"/>
              </a:rPr>
              <a:t> </a:t>
            </a:r>
            <a:r>
              <a:rPr sz="1800" i="1" spc="-5" dirty="0">
                <a:latin typeface="Courier New"/>
                <a:cs typeface="Courier New"/>
              </a:rPr>
              <a:t>of</a:t>
            </a:r>
            <a:r>
              <a:rPr sz="1800" i="1" spc="-35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String</a:t>
            </a:r>
            <a:r>
              <a:rPr sz="1800" i="1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st</a:t>
            </a:r>
            <a:r>
              <a:rPr sz="1800" i="1" spc="-25" dirty="0">
                <a:latin typeface="Courier New"/>
                <a:cs typeface="Courier New"/>
              </a:rPr>
              <a:t> </a:t>
            </a:r>
            <a:r>
              <a:rPr sz="1800" i="1" dirty="0">
                <a:latin typeface="Courier New"/>
                <a:cs typeface="Courier New"/>
              </a:rPr>
              <a:t>:</a:t>
            </a:r>
            <a:r>
              <a:rPr sz="1800" i="1" spc="-2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"+result1);</a:t>
            </a:r>
            <a:endParaRPr sz="1800">
              <a:latin typeface="Courier New"/>
              <a:cs typeface="Courier New"/>
            </a:endParaRPr>
          </a:p>
          <a:p>
            <a:pPr marL="243840" marR="549910" indent="225425">
              <a:lnSpc>
                <a:spcPct val="100000"/>
              </a:lnSpc>
              <a:spcBef>
                <a:spcPts val="430"/>
              </a:spcBef>
            </a:pPr>
            <a:r>
              <a:rPr sz="1800" spc="-10" dirty="0">
                <a:latin typeface="Courier New"/>
                <a:cs typeface="Courier New"/>
              </a:rPr>
              <a:t>System.</a:t>
            </a:r>
            <a:r>
              <a:rPr sz="1800" i="1" spc="-10" dirty="0">
                <a:latin typeface="Courier New"/>
                <a:cs typeface="Courier New"/>
              </a:rPr>
              <a:t>out.println("Substring </a:t>
            </a:r>
            <a:r>
              <a:rPr sz="1800" i="1" spc="-5" dirty="0">
                <a:latin typeface="Courier New"/>
                <a:cs typeface="Courier New"/>
              </a:rPr>
              <a:t>of </a:t>
            </a:r>
            <a:r>
              <a:rPr sz="1800" i="1" spc="-10" dirty="0">
                <a:latin typeface="Courier New"/>
                <a:cs typeface="Courier New"/>
              </a:rPr>
              <a:t>StringBuffer sb (with </a:t>
            </a:r>
            <a:r>
              <a:rPr sz="1800" i="1" spc="-107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single argument):</a:t>
            </a:r>
            <a:r>
              <a:rPr sz="1800" i="1" spc="-5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"+result2);</a:t>
            </a:r>
            <a:endParaRPr sz="1800">
              <a:latin typeface="Courier New"/>
              <a:cs typeface="Courier New"/>
            </a:endParaRPr>
          </a:p>
          <a:p>
            <a:pPr marL="243840" marR="5080" indent="225425">
              <a:lnSpc>
                <a:spcPct val="100000"/>
              </a:lnSpc>
              <a:spcBef>
                <a:spcPts val="434"/>
              </a:spcBef>
            </a:pPr>
            <a:r>
              <a:rPr sz="1800" spc="-10" dirty="0">
                <a:latin typeface="Courier New"/>
                <a:cs typeface="Courier New"/>
              </a:rPr>
              <a:t>System.</a:t>
            </a:r>
            <a:r>
              <a:rPr sz="1800" i="1" spc="-10" dirty="0">
                <a:latin typeface="Courier New"/>
                <a:cs typeface="Courier New"/>
              </a:rPr>
              <a:t>out.println("Substring </a:t>
            </a:r>
            <a:r>
              <a:rPr sz="1800" i="1" spc="-5" dirty="0">
                <a:latin typeface="Courier New"/>
                <a:cs typeface="Courier New"/>
              </a:rPr>
              <a:t>of </a:t>
            </a:r>
            <a:r>
              <a:rPr sz="1800" i="1" spc="-10" dirty="0">
                <a:latin typeface="Courier New"/>
                <a:cs typeface="Courier New"/>
              </a:rPr>
              <a:t>StringBuffer sb (with </a:t>
            </a:r>
            <a:r>
              <a:rPr sz="1800" i="1" spc="-5" dirty="0">
                <a:latin typeface="Courier New"/>
                <a:cs typeface="Courier New"/>
              </a:rPr>
              <a:t>two </a:t>
            </a:r>
            <a:r>
              <a:rPr sz="1800" i="1" spc="-1070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arguments)</a:t>
            </a:r>
            <a:r>
              <a:rPr sz="1800" i="1" spc="-35" dirty="0">
                <a:latin typeface="Courier New"/>
                <a:cs typeface="Courier New"/>
              </a:rPr>
              <a:t> </a:t>
            </a:r>
            <a:r>
              <a:rPr sz="1800" i="1" dirty="0">
                <a:latin typeface="Courier New"/>
                <a:cs typeface="Courier New"/>
              </a:rPr>
              <a:t>:</a:t>
            </a:r>
            <a:r>
              <a:rPr sz="1800" i="1" spc="-5" dirty="0">
                <a:latin typeface="Courier New"/>
                <a:cs typeface="Courier New"/>
              </a:rPr>
              <a:t> </a:t>
            </a:r>
            <a:r>
              <a:rPr sz="1800" i="1" spc="-10" dirty="0">
                <a:latin typeface="Courier New"/>
                <a:cs typeface="Courier New"/>
              </a:rPr>
              <a:t>"+result3);</a:t>
            </a:r>
            <a:r>
              <a:rPr sz="1800" i="1" spc="95" dirty="0">
                <a:latin typeface="Courier New"/>
                <a:cs typeface="Courier New"/>
              </a:rPr>
              <a:t> </a:t>
            </a: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17219" y="5524498"/>
            <a:ext cx="7678420" cy="1228725"/>
            <a:chOff x="617219" y="5524498"/>
            <a:chExt cx="7678420" cy="12287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2746" y="5573294"/>
              <a:ext cx="7575815" cy="10545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19" y="5524498"/>
              <a:ext cx="7677911" cy="12283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720851" y="5588508"/>
              <a:ext cx="7499984" cy="978535"/>
            </a:xfrm>
            <a:custGeom>
              <a:avLst/>
              <a:gdLst/>
              <a:ahLst/>
              <a:cxnLst/>
              <a:rect l="l" t="t" r="r" b="b"/>
              <a:pathLst>
                <a:path w="7499984" h="978534">
                  <a:moveTo>
                    <a:pt x="7499604" y="0"/>
                  </a:moveTo>
                  <a:lnTo>
                    <a:pt x="0" y="0"/>
                  </a:lnTo>
                  <a:lnTo>
                    <a:pt x="0" y="978408"/>
                  </a:lnTo>
                  <a:lnTo>
                    <a:pt x="7499604" y="978408"/>
                  </a:lnTo>
                  <a:lnTo>
                    <a:pt x="7499604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0851" y="5588508"/>
              <a:ext cx="7499984" cy="978535"/>
            </a:xfrm>
            <a:custGeom>
              <a:avLst/>
              <a:gdLst/>
              <a:ahLst/>
              <a:cxnLst/>
              <a:rect l="l" t="t" r="r" b="b"/>
              <a:pathLst>
                <a:path w="7499984" h="978534">
                  <a:moveTo>
                    <a:pt x="0" y="978408"/>
                  </a:moveTo>
                  <a:lnTo>
                    <a:pt x="7499604" y="978408"/>
                  </a:lnTo>
                  <a:lnTo>
                    <a:pt x="7499604" y="0"/>
                  </a:lnTo>
                  <a:lnTo>
                    <a:pt x="0" y="0"/>
                  </a:lnTo>
                  <a:lnTo>
                    <a:pt x="0" y="978408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20851" y="5588508"/>
            <a:ext cx="7499984" cy="9785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04"/>
              </a:spcBef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Substring</a:t>
            </a:r>
            <a:r>
              <a:rPr sz="2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String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st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Techno</a:t>
            </a:r>
            <a:endParaRPr sz="2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Substring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StringBuffer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sb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(with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single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argument):</a:t>
            </a:r>
            <a:r>
              <a:rPr sz="20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Technologies</a:t>
            </a:r>
            <a:endParaRPr sz="2000">
              <a:latin typeface="Arial MT"/>
              <a:cs typeface="Arial MT"/>
            </a:endParaRPr>
          </a:p>
          <a:p>
            <a:pPr marL="9144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Substring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Arial MT"/>
                <a:cs typeface="Arial MT"/>
              </a:rPr>
              <a:t>StringBuffer</a:t>
            </a:r>
            <a:r>
              <a:rPr sz="2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sb</a:t>
            </a:r>
            <a:r>
              <a:rPr sz="20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(with</a:t>
            </a:r>
            <a:r>
              <a:rPr sz="2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two</a:t>
            </a:r>
            <a:r>
              <a:rPr sz="20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arguments)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20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Arial MT"/>
                <a:cs typeface="Arial MT"/>
              </a:rPr>
              <a:t>Techno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40</a:t>
            </a:fld>
            <a:endParaRPr spc="-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0214" y="1006855"/>
            <a:ext cx="7158990" cy="1189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" dirty="0">
                <a:latin typeface="Arial MT"/>
                <a:cs typeface="Arial MT"/>
              </a:rPr>
              <a:t> this module,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were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able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800" dirty="0">
                <a:latin typeface="Arial MT"/>
                <a:cs typeface="Arial MT"/>
              </a:rPr>
              <a:t>: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550">
              <a:latin typeface="Arial MT"/>
              <a:cs typeface="Arial MT"/>
            </a:endParaRPr>
          </a:p>
          <a:p>
            <a:pPr marL="524510" indent="-287020">
              <a:lnSpc>
                <a:spcPct val="100000"/>
              </a:lnSpc>
              <a:buChar char="•"/>
              <a:tabLst>
                <a:tab pos="524510" algn="l"/>
                <a:tab pos="525145" algn="l"/>
              </a:tabLst>
            </a:pPr>
            <a:r>
              <a:rPr sz="2400" dirty="0">
                <a:latin typeface="Arial MT"/>
                <a:cs typeface="Arial MT"/>
              </a:rPr>
              <a:t>Implement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StringBuffer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class</a:t>
            </a:r>
            <a:r>
              <a:rPr sz="240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methods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spc="-5" dirty="0"/>
              <a:pPr marL="38100">
                <a:lnSpc>
                  <a:spcPct val="100000"/>
                </a:lnSpc>
              </a:pPr>
              <a:t>41</a:t>
            </a:fld>
            <a:endParaRPr spc="-5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4668" y="174447"/>
            <a:ext cx="1761489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latin typeface="Times New Roman" pitchFamily="18" charset="0"/>
                <a:cs typeface="Times New Roman" pitchFamily="18" charset="0"/>
              </a:rPr>
              <a:t>Summa</a:t>
            </a:r>
            <a:r>
              <a:rPr sz="3000" spc="-15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3000" dirty="0">
                <a:latin typeface="Times New Roman" pitchFamily="18" charset="0"/>
                <a:cs typeface="Times New Roman" pitchFamily="18" charset="0"/>
              </a:rPr>
              <a:t>y</a:t>
            </a:r>
            <a:endParaRPr sz="3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GLA</Template>
  <TotalTime>3</TotalTime>
  <Words>1688</Words>
  <Application>Microsoft Office PowerPoint</Application>
  <PresentationFormat>On-screen Show (4:3)</PresentationFormat>
  <Paragraphs>363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2" baseType="lpstr">
      <vt:lpstr>Office Theme</vt:lpstr>
      <vt:lpstr>Slide 1</vt:lpstr>
      <vt:lpstr>Slide 2</vt:lpstr>
      <vt:lpstr>Objectives</vt:lpstr>
      <vt:lpstr>String</vt:lpstr>
      <vt:lpstr>Creating Strings</vt:lpstr>
      <vt:lpstr>String class Methods</vt:lpstr>
      <vt:lpstr>String class Methods (Contd.).</vt:lpstr>
      <vt:lpstr>String class Methods (Contd.).</vt:lpstr>
      <vt:lpstr>Strings created using assignment operator</vt:lpstr>
      <vt:lpstr>Comparing Strings using == operator</vt:lpstr>
      <vt:lpstr>Comparing Strings using equals method</vt:lpstr>
      <vt:lpstr>Strings created using new keyword</vt:lpstr>
      <vt:lpstr>Comparing Strings using == operator</vt:lpstr>
      <vt:lpstr>Comparing Strings using equals method</vt:lpstr>
      <vt:lpstr>String class Methods</vt:lpstr>
      <vt:lpstr>String class Methods (Contd.).</vt:lpstr>
      <vt:lpstr>String class Methods (Contd.).</vt:lpstr>
      <vt:lpstr>String class Methods (Contd.).</vt:lpstr>
      <vt:lpstr>String class Methods (Contd.).</vt:lpstr>
      <vt:lpstr>String class Methods (Contd.).</vt:lpstr>
      <vt:lpstr>String class Methods (Contd.).</vt:lpstr>
      <vt:lpstr>Example</vt:lpstr>
      <vt:lpstr>String class Methods</vt:lpstr>
      <vt:lpstr>String class Methods (Contd.).</vt:lpstr>
      <vt:lpstr>String class Methods (Contd.).</vt:lpstr>
      <vt:lpstr>String class Methods (Contd.).</vt:lpstr>
      <vt:lpstr>StringBuffer</vt:lpstr>
      <vt:lpstr>String Buffer Operations</vt:lpstr>
      <vt:lpstr>StringBuffer Operations (Contd.).</vt:lpstr>
      <vt:lpstr>StringBuffer Operations (Contd.).</vt:lpstr>
      <vt:lpstr>StringBuffer Operations (Contd.).</vt:lpstr>
      <vt:lpstr>StringBuffer Operations (Contd.).</vt:lpstr>
      <vt:lpstr>Example</vt:lpstr>
      <vt:lpstr>StringBuffer Operations (Contd.).</vt:lpstr>
      <vt:lpstr>Example</vt:lpstr>
      <vt:lpstr>Slide 36</vt:lpstr>
      <vt:lpstr>Slide 37</vt:lpstr>
      <vt:lpstr>Example</vt:lpstr>
      <vt:lpstr>String and StringBuffer Documentation</vt:lpstr>
      <vt:lpstr>Quiz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HP</cp:lastModifiedBy>
  <cp:revision>2</cp:revision>
  <dcterms:created xsi:type="dcterms:W3CDTF">2023-02-02T07:01:30Z</dcterms:created>
  <dcterms:modified xsi:type="dcterms:W3CDTF">2025-11-20T07:56:24Z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2016-09-29T00:00:00Z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2023-02-02T00:00:00Z</vt:filetime>
  </property>
</Properties>
</file>