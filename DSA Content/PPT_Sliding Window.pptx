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98" r:id="rId3"/>
    <p:sldId id="258" r:id="rId4"/>
    <p:sldId id="260" r:id="rId5"/>
    <p:sldId id="261" r:id="rId6"/>
    <p:sldId id="262" r:id="rId7"/>
    <p:sldId id="263" r:id="rId8"/>
    <p:sldId id="264" r:id="rId9"/>
    <p:sldId id="299" r:id="rId10"/>
    <p:sldId id="265" r:id="rId11"/>
    <p:sldId id="300" r:id="rId12"/>
    <p:sldId id="301" r:id="rId13"/>
    <p:sldId id="266" r:id="rId14"/>
    <p:sldId id="267" r:id="rId15"/>
    <p:sldId id="302" r:id="rId16"/>
    <p:sldId id="268" r:id="rId17"/>
    <p:sldId id="269" r:id="rId18"/>
    <p:sldId id="270" r:id="rId19"/>
    <p:sldId id="271" r:id="rId20"/>
    <p:sldId id="272" r:id="rId21"/>
    <p:sldId id="295" r:id="rId22"/>
    <p:sldId id="297" r:id="rId23"/>
    <p:sldId id="273" r:id="rId2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 varScale="1">
        <p:scale>
          <a:sx n="65" d="100"/>
          <a:sy n="65" d="100"/>
        </p:scale>
        <p:origin x="-1452" y="-10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2736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5465" y="168655"/>
            <a:ext cx="8653068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" y="4546427"/>
            <a:ext cx="9134856" cy="20951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60475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182880" y="0"/>
                </a:lnTo>
                <a:lnTo>
                  <a:pt x="0" y="0"/>
                </a:lnTo>
                <a:lnTo>
                  <a:pt x="0" y="25908"/>
                </a:lnTo>
                <a:lnTo>
                  <a:pt x="18288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E21E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8287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E32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657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E439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86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E746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3151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E85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144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EA5D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728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EB6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28016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ED74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46303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EE7D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64592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08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8288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39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201167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49C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219456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6A6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237743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8A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256032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A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27432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AB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92607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FAB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310896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BB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32918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B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347472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BC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36576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C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384047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CC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40233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CC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42062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DC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438912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DC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45720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AC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475487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3C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49377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EBC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51206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E3C5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530352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DCC5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54864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D4C3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566927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CCC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58521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B8BB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60350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A2B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621792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8BB1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64008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70AC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658368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51A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67665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1DA1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69494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009D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713231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0097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73152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008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749808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0080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76809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0071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78638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0062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804671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1752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82296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2D42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841248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303D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85953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333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87782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3538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8961119" y="760476"/>
            <a:ext cx="182880" cy="26034"/>
          </a:xfrm>
          <a:custGeom>
            <a:avLst/>
            <a:gdLst/>
            <a:ahLst/>
            <a:cxnLst/>
            <a:rect l="l" t="t" r="r" b="b"/>
            <a:pathLst>
              <a:path w="182879" h="26034">
                <a:moveTo>
                  <a:pt x="182879" y="0"/>
                </a:moveTo>
                <a:lnTo>
                  <a:pt x="0" y="0"/>
                </a:lnTo>
                <a:lnTo>
                  <a:pt x="0" y="25908"/>
                </a:lnTo>
                <a:lnTo>
                  <a:pt x="182879" y="25908"/>
                </a:lnTo>
                <a:lnTo>
                  <a:pt x="182879" y="0"/>
                </a:lnTo>
                <a:close/>
              </a:path>
            </a:pathLst>
          </a:custGeom>
          <a:solidFill>
            <a:srgbClr val="393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5984" y="2636011"/>
            <a:ext cx="481203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39" y="1170178"/>
            <a:ext cx="8072120" cy="4430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617" y="6643007"/>
            <a:ext cx="216535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inimum-size-subarray-sum/" TargetMode="External"/><Relationship Id="rId2" Type="http://schemas.openxmlformats.org/officeDocument/2006/relationships/hyperlink" Target="https://leetcode.com/problems/maximum-subarra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etcode.com/problems/find-all-anagrams-in-a-string/" TargetMode="External"/><Relationship Id="rId5" Type="http://schemas.openxmlformats.org/officeDocument/2006/relationships/hyperlink" Target="https://leetcode.com/problems/max-consecutive-ones-iii/" TargetMode="External"/><Relationship Id="rId4" Type="http://schemas.openxmlformats.org/officeDocument/2006/relationships/hyperlink" Target="https://leetcode.com/problems/longest-substring-with-at-most-k-distinct-characters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max-consecutive-ones-iii/" TargetMode="External"/><Relationship Id="rId7" Type="http://schemas.openxmlformats.org/officeDocument/2006/relationships/hyperlink" Target="https://leetcode.com/problems/subarray-product-less-than-k/" TargetMode="External"/><Relationship Id="rId2" Type="http://schemas.openxmlformats.org/officeDocument/2006/relationships/hyperlink" Target="https://leetcode.com/problems/minimum-size-subarray-su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etcode.com/problems/fruit-into-baskets/" TargetMode="External"/><Relationship Id="rId5" Type="http://schemas.openxmlformats.org/officeDocument/2006/relationships/hyperlink" Target="https://leetcode.com/problems/longest-repeating-character-replacement/" TargetMode="External"/><Relationship Id="rId4" Type="http://schemas.openxmlformats.org/officeDocument/2006/relationships/hyperlink" Target="https://leetcode.com/problems/minimum-window-substring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discuss/post/3722472/sliding-window-technique-a-comprehensive-ix2k/" TargetMode="External"/><Relationship Id="rId2" Type="http://schemas.openxmlformats.org/officeDocument/2006/relationships/hyperlink" Target="https://takeuforward.org/data-structure/sliding-window-technique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057400" y="2971800"/>
            <a:ext cx="5645100" cy="18973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  <a:tabLst>
                <a:tab pos="568960" algn="l"/>
              </a:tabLst>
            </a:pPr>
            <a:r>
              <a:rPr lang="en-US" sz="3200" b="1" spc="-5" dirty="0" smtClean="0"/>
              <a:t>Sliding Window</a:t>
            </a:r>
            <a:endParaRPr lang="en-US" sz="3200" b="1" spc="-5" dirty="0" smtClean="0"/>
          </a:p>
          <a:p>
            <a:pPr marL="12700" algn="r">
              <a:lnSpc>
                <a:spcPct val="100000"/>
              </a:lnSpc>
              <a:spcBef>
                <a:spcPts val="95"/>
              </a:spcBef>
              <a:tabLst>
                <a:tab pos="568960" algn="l"/>
              </a:tabLst>
            </a:pPr>
            <a:endParaRPr lang="en-US" sz="3200" b="1" spc="-5" dirty="0" smtClean="0">
              <a:latin typeface="Arial"/>
              <a:cs typeface="Arial"/>
            </a:endParaRPr>
          </a:p>
          <a:p>
            <a:pPr marL="12700" algn="r">
              <a:lnSpc>
                <a:spcPct val="100000"/>
              </a:lnSpc>
              <a:spcBef>
                <a:spcPts val="95"/>
              </a:spcBef>
              <a:tabLst>
                <a:tab pos="568960" algn="l"/>
              </a:tabLst>
            </a:pPr>
            <a:endParaRPr lang="en-US" sz="3200" b="1" spc="-5" dirty="0" smtClean="0">
              <a:latin typeface="Arial"/>
              <a:cs typeface="Arial"/>
            </a:endParaRPr>
          </a:p>
          <a:p>
            <a:pPr marL="12700" algn="r">
              <a:lnSpc>
                <a:spcPct val="100000"/>
              </a:lnSpc>
              <a:spcBef>
                <a:spcPts val="95"/>
              </a:spcBef>
              <a:tabLst>
                <a:tab pos="568960" algn="l"/>
              </a:tabLst>
            </a:pPr>
            <a:r>
              <a:rPr lang="en-US" sz="2000" spc="-5" dirty="0" smtClean="0">
                <a:latin typeface="Arial"/>
                <a:cs typeface="Arial"/>
              </a:rPr>
              <a:t>By: Sanjay Madaan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</a:t>
            </a:fld>
            <a:endParaRPr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5465" y="168655"/>
            <a:ext cx="14236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Arial"/>
                <a:cs typeface="Arial"/>
              </a:rPr>
              <a:t>A</a:t>
            </a:r>
            <a:r>
              <a:rPr sz="3000" b="1" spc="5" dirty="0">
                <a:latin typeface="Arial"/>
                <a:cs typeface="Arial"/>
              </a:rPr>
              <a:t>g</a:t>
            </a:r>
            <a:r>
              <a:rPr sz="3000" b="1" dirty="0">
                <a:latin typeface="Arial"/>
                <a:cs typeface="Arial"/>
              </a:rPr>
              <a:t>enda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008" y="1336547"/>
            <a:ext cx="316992" cy="8305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7100" y="1471929"/>
            <a:ext cx="4511675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896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1800" spc="-5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lang="en-US" sz="2800" b="1" spc="-5" dirty="0" smtClean="0"/>
              <a:t> Sliding Window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</a:t>
            </a:fld>
            <a:endParaRPr spc="-5" dirty="0"/>
          </a:p>
        </p:txBody>
      </p:sp>
      <p:pic>
        <p:nvPicPr>
          <p:cNvPr id="40962" name="Picture 2" descr="https://miro.medium.com/v2/resize:fit:770/1*PTiEUQmRxS7kKqmNA0QbQw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6800" y="2100250"/>
            <a:ext cx="7258050" cy="408147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089" y="228980"/>
            <a:ext cx="19507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Objectives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67587" y="1138935"/>
            <a:ext cx="7158355" cy="1502334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400" dirty="0">
                <a:latin typeface="Arial MT"/>
                <a:cs typeface="Arial MT"/>
              </a:rPr>
              <a:t>At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this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module,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to:</a:t>
            </a:r>
            <a:endParaRPr sz="2400">
              <a:latin typeface="Arial MT"/>
              <a:cs typeface="Arial MT"/>
            </a:endParaRPr>
          </a:p>
          <a:p>
            <a:pPr marL="524510" indent="-287020">
              <a:lnSpc>
                <a:spcPct val="100000"/>
              </a:lnSpc>
              <a:spcBef>
                <a:spcPts val="1480"/>
              </a:spcBef>
              <a:buChar char="•"/>
              <a:tabLst>
                <a:tab pos="524510" algn="l"/>
                <a:tab pos="525145" algn="l"/>
              </a:tabLst>
            </a:pPr>
            <a:r>
              <a:rPr lang="en-US" sz="2400" spc="-5" dirty="0" smtClean="0">
                <a:latin typeface="Arial MT"/>
                <a:cs typeface="Arial MT"/>
              </a:rPr>
              <a:t>Solve problem statements using Sliding Window approach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73453"/>
            <a:ext cx="8453755" cy="2993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  <a:tab pos="1195070" algn="l"/>
                <a:tab pos="1570355" algn="l"/>
                <a:tab pos="1896110" algn="l"/>
                <a:tab pos="2830830" algn="l"/>
                <a:tab pos="3241040" algn="l"/>
                <a:tab pos="4905375" algn="l"/>
                <a:tab pos="5737225" algn="l"/>
                <a:tab pos="6333490" algn="l"/>
                <a:tab pos="7455534" algn="l"/>
                <a:tab pos="7863840" algn="l"/>
              </a:tabLst>
            </a:pPr>
            <a:r>
              <a:rPr lang="en-US" sz="2400" dirty="0" smtClean="0"/>
              <a:t>Common </a:t>
            </a:r>
            <a:r>
              <a:rPr lang="en-US" sz="2400" dirty="0" smtClean="0"/>
              <a:t>algorithmic approach used for solving various problems that involve processing or analyzing a sequential data structure, such as arrays, strings, or streams</a:t>
            </a:r>
            <a:r>
              <a:rPr lang="en-US" sz="2400" dirty="0" smtClean="0"/>
              <a:t>.</a:t>
            </a:r>
          </a:p>
          <a:p>
            <a:pPr marL="243840" marR="5080" indent="-23177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  <a:tab pos="1195070" algn="l"/>
                <a:tab pos="1570355" algn="l"/>
                <a:tab pos="1896110" algn="l"/>
                <a:tab pos="2830830" algn="l"/>
                <a:tab pos="3241040" algn="l"/>
                <a:tab pos="4905375" algn="l"/>
                <a:tab pos="5737225" algn="l"/>
                <a:tab pos="6333490" algn="l"/>
                <a:tab pos="7455534" algn="l"/>
                <a:tab pos="7863840" algn="l"/>
              </a:tabLst>
            </a:pPr>
            <a:endParaRPr lang="en-US" sz="2400" dirty="0" smtClean="0">
              <a:latin typeface="Courier New"/>
              <a:cs typeface="Courier New"/>
            </a:endParaRPr>
          </a:p>
          <a:p>
            <a:pPr marL="243840" marR="5080" indent="-231775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  <a:tab pos="1195070" algn="l"/>
                <a:tab pos="1570355" algn="l"/>
                <a:tab pos="1896110" algn="l"/>
                <a:tab pos="2830830" algn="l"/>
                <a:tab pos="3241040" algn="l"/>
                <a:tab pos="4905375" algn="l"/>
                <a:tab pos="5737225" algn="l"/>
                <a:tab pos="6333490" algn="l"/>
                <a:tab pos="7455534" algn="l"/>
                <a:tab pos="7863840" algn="l"/>
              </a:tabLst>
            </a:pPr>
            <a:r>
              <a:rPr lang="en-US" sz="2400" dirty="0" smtClean="0"/>
              <a:t>It involves creating a fixed-size window that moves through the data structure one step at a time, typically from left to right, to perform specific operations or computations on the elements within the window</a:t>
            </a:r>
            <a:r>
              <a:rPr lang="en-US" sz="2400" dirty="0" smtClean="0"/>
              <a:t>.</a:t>
            </a:r>
            <a:r>
              <a:rPr lang="en-US" sz="2400" dirty="0" smtClean="0"/>
              <a:t> 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4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74447"/>
            <a:ext cx="70840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 smtClean="0"/>
              <a:t>Sliding Window </a:t>
            </a:r>
            <a:r>
              <a:rPr lang="en-US" sz="3200" dirty="0" smtClean="0"/>
              <a:t>technique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https://miro.medium.com/v2/resize:fit:770/1*m1WP0k9cHRkcTixpfayOdA.gif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990600"/>
            <a:ext cx="8458200" cy="2819401"/>
          </a:xfrm>
          <a:prstGeom prst="rect">
            <a:avLst/>
          </a:prstGeom>
          <a:noFill/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74447"/>
            <a:ext cx="80746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 smtClean="0"/>
              <a:t>What is the Sliding Window Algorithm?</a:t>
            </a:r>
            <a:endParaRPr lang="en-US"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856843"/>
            <a:ext cx="8072120" cy="889987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lang="en-US" sz="2400" dirty="0" smtClean="0"/>
              <a:t>The </a:t>
            </a:r>
            <a:r>
              <a:rPr lang="en-US" sz="2400" dirty="0" smtClean="0"/>
              <a:t>Sliding Window algorithm is a method for finding a subset of elements that satisfy a certain condition in issues. </a:t>
            </a:r>
            <a:endParaRPr lang="en-US" sz="2400" dirty="0" smtClean="0"/>
          </a:p>
        </p:txBody>
      </p:sp>
      <p:sp>
        <p:nvSpPr>
          <p:cNvPr id="6" name="object 3"/>
          <p:cNvSpPr txBox="1"/>
          <p:nvPr/>
        </p:nvSpPr>
        <p:spPr>
          <a:xfrm>
            <a:off x="533400" y="3881085"/>
            <a:ext cx="8072120" cy="1628651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25"/>
              </a:spcBef>
            </a:pPr>
            <a:r>
              <a:rPr lang="en-US" sz="2400" dirty="0" smtClean="0"/>
              <a:t>Solve </a:t>
            </a:r>
            <a:r>
              <a:rPr lang="en-US" sz="2400" dirty="0" smtClean="0"/>
              <a:t>problems that involve arrays, strings, or other data structures by maintaining a</a:t>
            </a:r>
            <a:r>
              <a:rPr lang="en-US" sz="2400" b="1" dirty="0" smtClean="0"/>
              <a:t> “window” </a:t>
            </a:r>
            <a:r>
              <a:rPr lang="en-US" sz="2400" dirty="0" smtClean="0"/>
              <a:t>of elements within a certain range and moving that window through the data to perform operations or calculations.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74447"/>
            <a:ext cx="82270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i="1" dirty="0" smtClean="0"/>
              <a:t>Using the Sliding Window Technique: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943101"/>
            <a:ext cx="8073390" cy="26400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1087120" indent="-231775" algn="just">
              <a:lnSpc>
                <a:spcPct val="120000"/>
              </a:lnSpc>
              <a:spcBef>
                <a:spcPts val="100"/>
              </a:spcBef>
            </a:pPr>
            <a:r>
              <a:rPr lang="en-US" sz="2400" dirty="0" smtClean="0"/>
              <a:t>The Sliding Window Technique is a powerful approach to efficiently solve problems involving arrays, strings, or sequences by maintaining a moving </a:t>
            </a:r>
            <a:r>
              <a:rPr lang="en-US" sz="2400" b="1" dirty="0" smtClean="0"/>
              <a:t>“window”</a:t>
            </a:r>
            <a:r>
              <a:rPr lang="en-US" sz="2400" dirty="0" smtClean="0"/>
              <a:t> of elements and performing operations as the window slides through the data. This technique helps reduce time complexity compared to brute-force methods.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143000"/>
            <a:ext cx="8528050" cy="5245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en-US" sz="2000" b="1" dirty="0" smtClean="0"/>
              <a:t>Determine Window Size:</a:t>
            </a:r>
            <a:r>
              <a:rPr lang="en-US" sz="2000" dirty="0" smtClean="0"/>
              <a:t> Decide on a fixed window size that defines the number of elements to consider at each step.</a:t>
            </a:r>
          </a:p>
          <a:p>
            <a:pPr algn="just"/>
            <a:endParaRPr lang="en-US" sz="2000" b="1" dirty="0" smtClean="0"/>
          </a:p>
          <a:p>
            <a:pPr algn="just"/>
            <a:r>
              <a:rPr lang="en-US" sz="2000" b="1" dirty="0" smtClean="0"/>
              <a:t>Initialize </a:t>
            </a:r>
            <a:r>
              <a:rPr lang="en-US" sz="2000" b="1" dirty="0" smtClean="0"/>
              <a:t>and Process</a:t>
            </a:r>
            <a:r>
              <a:rPr lang="en-US" sz="2000" dirty="0" smtClean="0"/>
              <a:t>: Start with the initial elements within the window. Perform any initial calculations or operations.</a:t>
            </a:r>
          </a:p>
          <a:p>
            <a:pPr algn="just"/>
            <a:endParaRPr lang="en-US" sz="2000" b="1" dirty="0" smtClean="0"/>
          </a:p>
          <a:p>
            <a:pPr algn="just"/>
            <a:r>
              <a:rPr lang="en-US" sz="2000" b="1" dirty="0" smtClean="0"/>
              <a:t>Slide </a:t>
            </a:r>
            <a:r>
              <a:rPr lang="en-US" sz="2000" b="1" dirty="0" smtClean="0"/>
              <a:t>the Window:</a:t>
            </a:r>
            <a:r>
              <a:rPr lang="en-US" sz="2000" dirty="0" smtClean="0"/>
              <a:t> Iterate through the data, updating the window by adding the next element and removing the leftmost one.</a:t>
            </a:r>
          </a:p>
          <a:p>
            <a:pPr algn="just"/>
            <a:endParaRPr lang="en-US" sz="2000" b="1" dirty="0" smtClean="0"/>
          </a:p>
          <a:p>
            <a:pPr algn="just"/>
            <a:r>
              <a:rPr lang="en-US" sz="2000" b="1" dirty="0" smtClean="0"/>
              <a:t>Update </a:t>
            </a:r>
            <a:r>
              <a:rPr lang="en-US" sz="2000" b="1" dirty="0" smtClean="0"/>
              <a:t>and Evaluate</a:t>
            </a:r>
            <a:r>
              <a:rPr lang="en-US" sz="2000" dirty="0" smtClean="0"/>
              <a:t>: Adjust calculations or data structures based on the new element. Evaluate if the current window meets the problem’s conditions.</a:t>
            </a:r>
          </a:p>
          <a:p>
            <a:pPr algn="just"/>
            <a:endParaRPr lang="en-US" sz="2000" b="1" dirty="0" smtClean="0"/>
          </a:p>
          <a:p>
            <a:pPr algn="just"/>
            <a:r>
              <a:rPr lang="en-US" sz="2000" b="1" dirty="0" smtClean="0"/>
              <a:t>Continue </a:t>
            </a:r>
            <a:r>
              <a:rPr lang="en-US" sz="2000" b="1" dirty="0" smtClean="0"/>
              <a:t>Sliding:</a:t>
            </a:r>
            <a:r>
              <a:rPr lang="en-US" sz="2000" dirty="0" smtClean="0"/>
              <a:t> Repeat the sliding, updating, and evaluation steps until the end of the data is reached.</a:t>
            </a:r>
          </a:p>
          <a:p>
            <a:pPr algn="just"/>
            <a:endParaRPr lang="en-US" sz="2000" b="1" dirty="0" smtClean="0"/>
          </a:p>
          <a:p>
            <a:pPr algn="just"/>
            <a:r>
              <a:rPr lang="en-US" sz="2000" b="1" dirty="0" smtClean="0"/>
              <a:t>Return </a:t>
            </a:r>
            <a:r>
              <a:rPr lang="en-US" sz="2000" b="1" dirty="0" smtClean="0"/>
              <a:t>Result</a:t>
            </a:r>
            <a:r>
              <a:rPr lang="en-US" sz="2000" dirty="0" smtClean="0"/>
              <a:t>: Return the final result or outcome based on the processed windows.</a:t>
            </a:r>
            <a:endParaRPr lang="en-US" sz="2000" dirty="0"/>
          </a:p>
        </p:txBody>
      </p:sp>
      <p:sp>
        <p:nvSpPr>
          <p:cNvPr id="6" name="object 2"/>
          <p:cNvSpPr txBox="1">
            <a:spLocks noGrp="1"/>
          </p:cNvSpPr>
          <p:nvPr>
            <p:ph type="title"/>
          </p:nvPr>
        </p:nvSpPr>
        <p:spPr>
          <a:xfrm>
            <a:off x="383540" y="174447"/>
            <a:ext cx="82270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en-US" sz="2400" i="1" dirty="0" smtClean="0"/>
              <a:t>Using the Sliding Window Technique: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s://miro.medium.com/v2/resize:fit:350/1*dsh6eN_EZ5yLPYLbEcaOG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76800" y="4724400"/>
            <a:ext cx="4267200" cy="2133600"/>
          </a:xfrm>
          <a:prstGeom prst="rect">
            <a:avLst/>
          </a:prstGeom>
          <a:noFill/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74447"/>
            <a:ext cx="79984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i="1" dirty="0" smtClean="0"/>
              <a:t>Problem</a:t>
            </a:r>
            <a:r>
              <a:rPr lang="en-US" sz="3200" b="0" i="1" dirty="0" smtClean="0"/>
              <a:t>: 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59741" y="1168653"/>
            <a:ext cx="6017260" cy="40402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350" indent="176213" algn="just">
              <a:lnSpc>
                <a:spcPct val="100000"/>
              </a:lnSpc>
              <a:spcBef>
                <a:spcPts val="105"/>
              </a:spcBef>
            </a:pPr>
            <a:r>
              <a:rPr lang="en-US" sz="2000" dirty="0" smtClean="0"/>
              <a:t>Given an array of integers, find the maximum sum of a </a:t>
            </a:r>
            <a:r>
              <a:rPr lang="en-US" sz="2000" dirty="0" err="1" smtClean="0"/>
              <a:t>subarray</a:t>
            </a:r>
            <a:r>
              <a:rPr lang="en-US" sz="2000" dirty="0" smtClean="0"/>
              <a:t> with a fixed window size</a:t>
            </a:r>
            <a:r>
              <a:rPr lang="en-US" sz="2000" dirty="0" smtClean="0"/>
              <a:t>.</a:t>
            </a:r>
          </a:p>
          <a:p>
            <a:pPr marR="6350" indent="176213" algn="just">
              <a:lnSpc>
                <a:spcPct val="100000"/>
              </a:lnSpc>
              <a:spcBef>
                <a:spcPts val="105"/>
              </a:spcBef>
            </a:pPr>
            <a:endParaRPr lang="en-US" sz="2000" dirty="0" smtClean="0">
              <a:latin typeface="Courier New"/>
              <a:cs typeface="Courier New"/>
            </a:endParaRPr>
          </a:p>
          <a:p>
            <a:pPr marR="6350" indent="176213" algn="just">
              <a:lnSpc>
                <a:spcPct val="100000"/>
              </a:lnSpc>
              <a:spcBef>
                <a:spcPts val="105"/>
              </a:spcBef>
            </a:pPr>
            <a:endParaRPr lang="en-US" sz="2000" dirty="0" smtClean="0">
              <a:latin typeface="Courier New"/>
              <a:cs typeface="Courier New"/>
            </a:endParaRPr>
          </a:p>
          <a:p>
            <a:pPr indent="176213" algn="just"/>
            <a:r>
              <a:rPr lang="en-US" sz="2000" dirty="0" smtClean="0"/>
              <a:t>Let’s </a:t>
            </a:r>
            <a:r>
              <a:rPr lang="en-US" sz="2000" dirty="0" smtClean="0"/>
              <a:t>consider the array: </a:t>
            </a:r>
            <a:r>
              <a:rPr lang="en-US" sz="2000" b="1" dirty="0" smtClean="0"/>
              <a:t>[2, 1, 5, 1, 3, 2] </a:t>
            </a:r>
            <a:r>
              <a:rPr lang="en-US" sz="2000" dirty="0" smtClean="0"/>
              <a:t>and a </a:t>
            </a:r>
            <a:r>
              <a:rPr lang="en-US" sz="2000" b="1" dirty="0" smtClean="0"/>
              <a:t>window size of 3.</a:t>
            </a:r>
            <a:endParaRPr lang="en-US" sz="2000" dirty="0" smtClean="0"/>
          </a:p>
          <a:p>
            <a:pPr indent="176213" algn="just"/>
            <a:endParaRPr lang="en-US" sz="2000" b="1" dirty="0" smtClean="0"/>
          </a:p>
          <a:p>
            <a:pPr indent="176213" algn="just">
              <a:buAutoNum type="arabicPeriod"/>
            </a:pPr>
            <a:r>
              <a:rPr lang="en-US" sz="2000" b="1" dirty="0" smtClean="0"/>
              <a:t>Initialization</a:t>
            </a:r>
            <a:r>
              <a:rPr lang="en-US" sz="2000" b="1" dirty="0" smtClean="0"/>
              <a:t>: </a:t>
            </a:r>
            <a:r>
              <a:rPr lang="en-US" sz="2000" dirty="0" smtClean="0"/>
              <a:t>Start with the first 3 elements: [2, 1, 5]. Calculate their sum: 2 + 1 + 5 = 8</a:t>
            </a:r>
            <a:r>
              <a:rPr lang="en-US" sz="2000" dirty="0" smtClean="0"/>
              <a:t>.</a:t>
            </a:r>
          </a:p>
          <a:p>
            <a:pPr indent="176213" algn="just">
              <a:buAutoNum type="arabicPeriod"/>
            </a:pPr>
            <a:endParaRPr lang="en-US" sz="2000" dirty="0" smtClean="0"/>
          </a:p>
          <a:p>
            <a:pPr indent="176213" algn="just"/>
            <a:r>
              <a:rPr lang="en-US" sz="2000" b="1" dirty="0" smtClean="0"/>
              <a:t>2. Slide </a:t>
            </a:r>
            <a:r>
              <a:rPr lang="en-US" sz="2000" b="1" dirty="0" smtClean="0"/>
              <a:t>the Window:</a:t>
            </a:r>
            <a:r>
              <a:rPr lang="en-US" sz="2000" dirty="0" smtClean="0"/>
              <a:t> Move the window one step to the right: [1, 5, 1]. Calculate the sum: 1 + 5 + 1 = 7</a:t>
            </a:r>
            <a:r>
              <a:rPr lang="en-US" sz="2000" dirty="0" smtClean="0"/>
              <a:t>.</a:t>
            </a:r>
          </a:p>
          <a:p>
            <a:pPr indent="176213" algn="just"/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74447"/>
            <a:ext cx="79984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i="1" dirty="0" smtClean="0"/>
              <a:t>Problem</a:t>
            </a:r>
            <a:r>
              <a:rPr lang="en-US" sz="3200" b="0" i="1" dirty="0" smtClean="0"/>
              <a:t>: 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168653"/>
            <a:ext cx="8379459" cy="4937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indent="176213" algn="just"/>
            <a:r>
              <a:rPr lang="en-US" sz="2000" b="1" dirty="0" smtClean="0"/>
              <a:t>3. Update and Evaluate:</a:t>
            </a:r>
            <a:r>
              <a:rPr lang="en-US" sz="2000" dirty="0" smtClean="0"/>
              <a:t> Compare the current sum (7) with the previous maximum sum (8). Since 8 is greater, keep the maximum sum as 8.</a:t>
            </a:r>
          </a:p>
          <a:p>
            <a:pPr indent="176213" algn="just"/>
            <a:endParaRPr lang="en-US" sz="2000" b="1" dirty="0" smtClean="0"/>
          </a:p>
          <a:p>
            <a:pPr indent="176213" algn="just"/>
            <a:r>
              <a:rPr lang="en-US" sz="2000" b="1" dirty="0" smtClean="0"/>
              <a:t>4. Slide </a:t>
            </a:r>
            <a:r>
              <a:rPr lang="en-US" sz="2000" b="1" dirty="0" smtClean="0"/>
              <a:t>the Window:</a:t>
            </a:r>
            <a:r>
              <a:rPr lang="en-US" sz="2000" dirty="0" smtClean="0"/>
              <a:t> Move the window again: [5, 1, 3]. Calculate the sum: 5 + 1 + 3 = 9</a:t>
            </a:r>
            <a:r>
              <a:rPr lang="en-US" sz="2000" dirty="0" smtClean="0"/>
              <a:t>.</a:t>
            </a:r>
          </a:p>
          <a:p>
            <a:pPr indent="176213" algn="just"/>
            <a:endParaRPr lang="en-US" sz="2000" dirty="0" smtClean="0"/>
          </a:p>
          <a:p>
            <a:pPr indent="176213" algn="just"/>
            <a:r>
              <a:rPr lang="en-US" sz="2000" b="1" dirty="0" smtClean="0"/>
              <a:t>5. Update </a:t>
            </a:r>
            <a:r>
              <a:rPr lang="en-US" sz="2000" b="1" dirty="0" smtClean="0"/>
              <a:t>and Evaluate:</a:t>
            </a:r>
            <a:r>
              <a:rPr lang="en-US" sz="2000" dirty="0" smtClean="0"/>
              <a:t> Compare the current sum (9) with the previous maximum sum (8). Update the maximum sum to 9.</a:t>
            </a:r>
          </a:p>
          <a:p>
            <a:pPr indent="176213" algn="just"/>
            <a:endParaRPr lang="en-US" sz="2000" dirty="0" smtClean="0"/>
          </a:p>
          <a:p>
            <a:pPr indent="176213" algn="just"/>
            <a:r>
              <a:rPr lang="en-US" sz="2000" b="1" dirty="0" smtClean="0"/>
              <a:t>6. Slide </a:t>
            </a:r>
            <a:r>
              <a:rPr lang="en-US" sz="2000" b="1" dirty="0" smtClean="0"/>
              <a:t>the Window:</a:t>
            </a:r>
            <a:r>
              <a:rPr lang="en-US" sz="2000" dirty="0" smtClean="0"/>
              <a:t> Continue sliding the window: [1, 3, 2]. Calculate the sum: 1 + 3 + 2 = 6.</a:t>
            </a:r>
          </a:p>
          <a:p>
            <a:pPr indent="176213" algn="just"/>
            <a:endParaRPr lang="en-US" sz="2000" dirty="0" smtClean="0"/>
          </a:p>
          <a:p>
            <a:pPr indent="176213" algn="just"/>
            <a:r>
              <a:rPr lang="en-US" sz="2000" b="1" dirty="0" smtClean="0"/>
              <a:t>7. Update </a:t>
            </a:r>
            <a:r>
              <a:rPr lang="en-US" sz="2000" b="1" dirty="0" smtClean="0"/>
              <a:t>and Evaluate:</a:t>
            </a:r>
            <a:r>
              <a:rPr lang="en-US" sz="2000" dirty="0" smtClean="0"/>
              <a:t> Compare the current sum (6) with the previous maximum sum (9). Since 9 is greater, the maximum sum remains 9.</a:t>
            </a:r>
          </a:p>
          <a:p>
            <a:pPr indent="176213" algn="just"/>
            <a:endParaRPr lang="en-US" sz="2000" dirty="0" smtClean="0"/>
          </a:p>
          <a:p>
            <a:pPr indent="176213" algn="just"/>
            <a:r>
              <a:rPr lang="en-US" sz="2000" b="1" dirty="0" smtClean="0"/>
              <a:t>8. Final </a:t>
            </a:r>
            <a:r>
              <a:rPr lang="en-US" sz="2000" b="1" dirty="0" smtClean="0"/>
              <a:t>Result:</a:t>
            </a:r>
            <a:r>
              <a:rPr lang="en-US" sz="2000" dirty="0" smtClean="0"/>
              <a:t> After sliding through all windows, the maximum sum found is 9.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8247"/>
            <a:ext cx="779653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 smtClean="0"/>
              <a:t>Implementations of the sliding window technique</a:t>
            </a:r>
            <a:r>
              <a:rPr lang="en-US" sz="2400" dirty="0" smtClean="0"/>
              <a:t>:</a:t>
            </a:r>
            <a:endParaRPr lang="en-US" sz="240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9301"/>
            <a:ext cx="3096895" cy="4558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675"/>
              </a:spcBef>
              <a:tabLst>
                <a:tab pos="244475" algn="l"/>
              </a:tabLst>
            </a:pPr>
            <a:r>
              <a:rPr lang="en-US" sz="2400" dirty="0" smtClean="0"/>
              <a:t>In CPP: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10</a:t>
            </a:fld>
            <a:endParaRPr spc="-5" dirty="0"/>
          </a:p>
        </p:txBody>
      </p:sp>
      <p:pic>
        <p:nvPicPr>
          <p:cNvPr id="33794" name="Picture 2" descr="https://miro.medium.com/v2/resize:fit:770/1*SPKcPMGjybPRRSNnbIvWuA.png"/>
          <p:cNvPicPr>
            <a:picLocks noChangeAspect="1" noChangeArrowheads="1"/>
          </p:cNvPicPr>
          <p:nvPr/>
        </p:nvPicPr>
        <p:blipFill>
          <a:blip r:embed="rId2"/>
          <a:srcRect l="11628" t="13699" r="10465" b="8219"/>
          <a:stretch>
            <a:fillRect/>
          </a:stretch>
        </p:blipFill>
        <p:spPr bwMode="auto">
          <a:xfrm>
            <a:off x="1981200" y="990600"/>
            <a:ext cx="6896769" cy="586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8247"/>
            <a:ext cx="779653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 smtClean="0"/>
              <a:t>Implementations of the sliding window technique</a:t>
            </a:r>
            <a:r>
              <a:rPr lang="en-US" sz="2400" dirty="0" smtClean="0"/>
              <a:t>:</a:t>
            </a:r>
            <a:endParaRPr lang="en-US" sz="240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9301"/>
            <a:ext cx="3096895" cy="4558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r>
              <a:rPr lang="en-US" sz="2400" dirty="0" smtClean="0"/>
              <a:t>In Python:</a:t>
            </a:r>
            <a:endParaRPr lang="en-US" sz="240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11</a:t>
            </a:fld>
            <a:endParaRPr spc="-5" dirty="0"/>
          </a:p>
        </p:txBody>
      </p:sp>
      <p:pic>
        <p:nvPicPr>
          <p:cNvPr id="50178" name="Picture 2" descr="https://miro.medium.com/v2/resize:fit:770/1*PqK39MoWNX20Ake-lwpqqg.png"/>
          <p:cNvPicPr>
            <a:picLocks noChangeAspect="1" noChangeArrowheads="1"/>
          </p:cNvPicPr>
          <p:nvPr/>
        </p:nvPicPr>
        <p:blipFill>
          <a:blip r:embed="rId2"/>
          <a:srcRect l="12424" t="21882" r="11732" b="12812"/>
          <a:stretch>
            <a:fillRect/>
          </a:stretch>
        </p:blipFill>
        <p:spPr bwMode="auto">
          <a:xfrm>
            <a:off x="1981200" y="1143000"/>
            <a:ext cx="6489700" cy="533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8247"/>
            <a:ext cx="779653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 smtClean="0"/>
              <a:t>Implementations of the sliding window technique</a:t>
            </a:r>
            <a:r>
              <a:rPr lang="en-US" sz="2400" dirty="0" smtClean="0"/>
              <a:t>:</a:t>
            </a:r>
            <a:endParaRPr lang="en-US" sz="2400" b="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9301"/>
            <a:ext cx="3096895" cy="45589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r>
              <a:rPr lang="en-US" sz="2400" dirty="0" smtClean="0"/>
              <a:t>In Java:</a:t>
            </a:r>
            <a:endParaRPr lang="en-US" sz="240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12</a:t>
            </a:fld>
            <a:endParaRPr spc="-5" dirty="0"/>
          </a:p>
        </p:txBody>
      </p:sp>
      <p:pic>
        <p:nvPicPr>
          <p:cNvPr id="51202" name="Picture 2" descr="https://miro.medium.com/v2/resize:fit:770/1*G4KvEeEZ4d-6TcxTm9udrw.png"/>
          <p:cNvPicPr>
            <a:picLocks noChangeAspect="1" noChangeArrowheads="1"/>
          </p:cNvPicPr>
          <p:nvPr/>
        </p:nvPicPr>
        <p:blipFill>
          <a:blip r:embed="rId2"/>
          <a:srcRect l="11385" t="16999" r="10693" b="9761"/>
          <a:stretch>
            <a:fillRect/>
          </a:stretch>
        </p:blipFill>
        <p:spPr bwMode="auto">
          <a:xfrm>
            <a:off x="2057400" y="914400"/>
            <a:ext cx="5715000" cy="5943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264" y="174447"/>
            <a:ext cx="829533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i="1" dirty="0" smtClean="0"/>
              <a:t>Time and Space </a:t>
            </a:r>
            <a:r>
              <a:rPr lang="en-US" sz="2400" i="1" dirty="0" smtClean="0"/>
              <a:t>complexity: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044320"/>
            <a:ext cx="8379460" cy="48134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/>
            <a:r>
              <a:rPr lang="en-US" sz="2400" b="1" dirty="0" smtClean="0"/>
              <a:t>Time Complexity</a:t>
            </a:r>
            <a:r>
              <a:rPr lang="en-US" sz="2400" dirty="0" smtClean="0"/>
              <a:t>:</a:t>
            </a:r>
          </a:p>
          <a:p>
            <a:pPr algn="just"/>
            <a:r>
              <a:rPr lang="en-US" sz="2400" dirty="0" smtClean="0"/>
              <a:t>The time complexity of the sliding window technique is usually linear or close to linear, O(n), where n is the size of the input data structure (e.g., array or string). This is because you process each element once as the window slides through the data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b="1" dirty="0" smtClean="0"/>
              <a:t>Space Complexity:</a:t>
            </a:r>
            <a:endParaRPr lang="en-US" sz="2400" dirty="0" smtClean="0"/>
          </a:p>
          <a:p>
            <a:pPr algn="just"/>
            <a:r>
              <a:rPr lang="en-US" sz="2400" dirty="0" smtClean="0"/>
              <a:t>The space complexity of the sliding window technique is generally constant, O(1), because you’re maintaining a fixed-size window and a few additional variables to perform calculations or store intermediate results. The amount of extra memory used doesn’t grow with the input size; it remains constant regardless of the input size.</a:t>
            </a:r>
            <a:endParaRPr lang="en-US" sz="2400" dirty="0"/>
          </a:p>
        </p:txBody>
      </p:sp>
      <p:sp>
        <p:nvSpPr>
          <p:cNvPr id="10" name="object 10"/>
          <p:cNvSpPr txBox="1"/>
          <p:nvPr/>
        </p:nvSpPr>
        <p:spPr>
          <a:xfrm>
            <a:off x="992124" y="5654040"/>
            <a:ext cx="7467600" cy="53340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355"/>
              </a:spcBef>
            </a:pP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Output: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String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objects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referenced</a:t>
            </a:r>
            <a:r>
              <a:rPr sz="2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are same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74447"/>
            <a:ext cx="73748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 smtClean="0"/>
              <a:t>Common </a:t>
            </a:r>
            <a:r>
              <a:rPr lang="en-US" sz="2400" dirty="0" smtClean="0"/>
              <a:t>Problems</a:t>
            </a:r>
            <a:endParaRPr lang="en-US"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991869"/>
            <a:ext cx="7645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/>
              <a:t> </a:t>
            </a:r>
            <a:r>
              <a:rPr lang="en-US" sz="2000" b="1" dirty="0" smtClean="0"/>
              <a:t>Based </a:t>
            </a:r>
            <a:r>
              <a:rPr lang="en-US" sz="2000" b="1" dirty="0" smtClean="0"/>
              <a:t>on the “sliding window technique</a:t>
            </a:r>
            <a:r>
              <a:rPr lang="en-US" sz="2000" b="1" dirty="0" smtClean="0"/>
              <a:t>”: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14</a:t>
            </a:fld>
            <a:endParaRPr spc="-5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3400" y="1600200"/>
          <a:ext cx="8305800" cy="4495802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68600"/>
                <a:gridCol w="2768600"/>
                <a:gridCol w="2768600"/>
              </a:tblGrid>
              <a:tr h="368169">
                <a:tc>
                  <a:txBody>
                    <a:bodyPr/>
                    <a:lstStyle/>
                    <a:p>
                      <a:r>
                        <a:rPr lang="en-US" sz="1400" b="1" dirty="0"/>
                        <a:t>Problem Name</a:t>
                      </a:r>
                      <a:endParaRPr lang="en-US" sz="1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LeetCode Problem</a:t>
                      </a:r>
                      <a:endParaRPr lang="en-US"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Link</a:t>
                      </a:r>
                      <a:endParaRPr lang="en-US" sz="1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  <a:tr h="694853">
                <a:tc>
                  <a:txBody>
                    <a:bodyPr/>
                    <a:lstStyle/>
                    <a:p>
                      <a:r>
                        <a:rPr lang="en-US" sz="1400" dirty="0"/>
                        <a:t>Maximum </a:t>
                      </a:r>
                      <a:r>
                        <a:rPr lang="en-US" sz="1400" dirty="0" err="1"/>
                        <a:t>Subarray</a:t>
                      </a:r>
                      <a:r>
                        <a:rPr lang="en-US" sz="1400" dirty="0"/>
                        <a:t> Sum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53. Maximum Subarray (Kadane’s Algorithm)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hlinkClick r:id="rId2"/>
                        </a:rPr>
                        <a:t>https://leetcode.com/problems/maximum-subarray/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  <a:tr h="1021537">
                <a:tc>
                  <a:txBody>
                    <a:bodyPr/>
                    <a:lstStyle/>
                    <a:p>
                      <a:r>
                        <a:rPr lang="en-US" sz="1400" dirty="0"/>
                        <a:t>Minimum </a:t>
                      </a:r>
                      <a:r>
                        <a:rPr lang="en-US" sz="1400" dirty="0" err="1"/>
                        <a:t>Subarray</a:t>
                      </a:r>
                      <a:r>
                        <a:rPr lang="en-US" sz="1400" dirty="0"/>
                        <a:t> Sum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(No direct problem – but related version) 209. Minimum Size Subarray Sum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hlinkClick r:id="rId3"/>
                        </a:rPr>
                        <a:t>https://leetcode.com/problems/minimum-size-subarray-sum/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  <a:tr h="1021537">
                <a:tc>
                  <a:txBody>
                    <a:bodyPr/>
                    <a:lstStyle/>
                    <a:p>
                      <a:r>
                        <a:rPr lang="en-US" sz="1400" dirty="0"/>
                        <a:t>Longest Substring with K Distinct Characters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340. Longest Substring with At Most K Distinct Characters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hlinkClick r:id="rId4"/>
                        </a:rPr>
                        <a:t>https://leetcode.com/problems/longest-substring-with-at-most-k-distinct-characters/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  <a:tr h="694853">
                <a:tc>
                  <a:txBody>
                    <a:bodyPr/>
                    <a:lstStyle/>
                    <a:p>
                      <a:r>
                        <a:rPr lang="en-US" sz="1400" dirty="0"/>
                        <a:t>Longest </a:t>
                      </a:r>
                      <a:r>
                        <a:rPr lang="en-US" sz="1400" dirty="0" err="1"/>
                        <a:t>Subarray</a:t>
                      </a:r>
                      <a:r>
                        <a:rPr lang="en-US" sz="1400" dirty="0"/>
                        <a:t> with Ones after Replacement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1004. Max Consecutive Ones III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hlinkClick r:id="rId5"/>
                        </a:rPr>
                        <a:t>https://leetcode.com/problems/max-consecutive-ones-iii/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  <a:tr h="694853">
                <a:tc>
                  <a:txBody>
                    <a:bodyPr/>
                    <a:lstStyle/>
                    <a:p>
                      <a:r>
                        <a:rPr lang="en-US" sz="1400" dirty="0"/>
                        <a:t>Find All Anagrams in a String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438. Find All Anagrams in a String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hlinkClick r:id="rId6"/>
                        </a:rPr>
                        <a:t>https://leetcode.com/problems/find-all-anagrams-in-a-string/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74447"/>
            <a:ext cx="73748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400" dirty="0" smtClean="0"/>
              <a:t>Common </a:t>
            </a:r>
            <a:r>
              <a:rPr lang="en-US" sz="2400" dirty="0" smtClean="0"/>
              <a:t>Problems</a:t>
            </a:r>
            <a:endParaRPr lang="en-US"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991869"/>
            <a:ext cx="7645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dirty="0" smtClean="0"/>
              <a:t> </a:t>
            </a:r>
            <a:r>
              <a:rPr lang="en-US" sz="2000" b="1" dirty="0" smtClean="0"/>
              <a:t>Based </a:t>
            </a:r>
            <a:r>
              <a:rPr lang="en-US" sz="2000" b="1" dirty="0" smtClean="0"/>
              <a:t>on the “sliding window technique</a:t>
            </a:r>
            <a:r>
              <a:rPr lang="en-US" sz="2000" b="1" dirty="0" smtClean="0"/>
              <a:t>”: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15</a:t>
            </a:fld>
            <a:endParaRPr spc="-5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33400" y="1524000"/>
          <a:ext cx="8305800" cy="457200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68600"/>
                <a:gridCol w="2768600"/>
                <a:gridCol w="2768600"/>
              </a:tblGrid>
              <a:tr h="346069">
                <a:tc>
                  <a:txBody>
                    <a:bodyPr/>
                    <a:lstStyle/>
                    <a:p>
                      <a:r>
                        <a:rPr lang="en-US" sz="1400" b="1" dirty="0"/>
                        <a:t>Problem Name</a:t>
                      </a:r>
                      <a:endParaRPr lang="en-US" sz="1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LeetCode Problem</a:t>
                      </a:r>
                      <a:endParaRPr lang="en-US" sz="1400" b="1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Link</a:t>
                      </a:r>
                      <a:endParaRPr lang="en-US" sz="14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  <a:tr h="653143">
                <a:tc>
                  <a:txBody>
                    <a:bodyPr/>
                    <a:lstStyle/>
                    <a:p>
                      <a:r>
                        <a:rPr lang="en-US" sz="1400" dirty="0"/>
                        <a:t>Smallest </a:t>
                      </a:r>
                      <a:r>
                        <a:rPr lang="en-US" sz="1400" dirty="0" err="1"/>
                        <a:t>Subarray</a:t>
                      </a:r>
                      <a:r>
                        <a:rPr lang="en-US" sz="1400" dirty="0"/>
                        <a:t> with Sum ≥ K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209. Minimum Size Subarray Sum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hlinkClick r:id="rId2"/>
                        </a:rPr>
                        <a:t>https://leetcode.com/problems/minimum-size-subarray-sum/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  <a:tr h="653143">
                <a:tc>
                  <a:txBody>
                    <a:bodyPr/>
                    <a:lstStyle/>
                    <a:p>
                      <a:r>
                        <a:rPr lang="en-US" sz="1400" dirty="0"/>
                        <a:t>Maximum Consecutive Ones after Flipping Zeros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1004. Max Consecutive Ones III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hlinkClick r:id="rId3"/>
                        </a:rPr>
                        <a:t>https://leetcode.com/problems/max-consecutive-ones-iii/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  <a:tr h="653143">
                <a:tc>
                  <a:txBody>
                    <a:bodyPr/>
                    <a:lstStyle/>
                    <a:p>
                      <a:r>
                        <a:rPr lang="en-US" sz="1400" dirty="0"/>
                        <a:t>Minimum Window Substring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76. Minimum Window Substring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hlinkClick r:id="rId4"/>
                        </a:rPr>
                        <a:t>https://leetcode.com/problems/minimum-window-substring/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  <a:tr h="960217">
                <a:tc>
                  <a:txBody>
                    <a:bodyPr/>
                    <a:lstStyle/>
                    <a:p>
                      <a:r>
                        <a:rPr lang="en-US" sz="1400"/>
                        <a:t>Longest Repeating Character Replacement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424. Longest Repeating Character Replacement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hlinkClick r:id="rId5"/>
                        </a:rPr>
                        <a:t>https://leetcode.com/problems/longest-repeating-character-replacement/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  <a:tr h="653143">
                <a:tc>
                  <a:txBody>
                    <a:bodyPr/>
                    <a:lstStyle/>
                    <a:p>
                      <a:r>
                        <a:rPr lang="en-US" sz="1400"/>
                        <a:t>Fruit Into Baskets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904. Fruit Into Baskets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hlinkClick r:id="rId6"/>
                        </a:rPr>
                        <a:t>https://leetcode.com/problems/fruit-into-baskets/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  <a:tr h="653143">
                <a:tc>
                  <a:txBody>
                    <a:bodyPr/>
                    <a:lstStyle/>
                    <a:p>
                      <a:r>
                        <a:rPr lang="en-US" sz="1400"/>
                        <a:t>Subarrays with Product Less than K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713. Subarray Product Less Than K</a:t>
                      </a:r>
                      <a:endParaRPr lang="en-US"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hlinkClick r:id="rId7"/>
                        </a:rPr>
                        <a:t>https://leetcode.com/problems/subarray-product-less-than-k/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27093" marR="27093" marT="13547" marB="13547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1" y="227444"/>
            <a:ext cx="855715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800" dirty="0" smtClean="0"/>
              <a:t>Introducing the concept of a variable-size window:</a:t>
            </a:r>
            <a:endParaRPr lang="en-US"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9301"/>
            <a:ext cx="7846060" cy="432874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3840" indent="-231775" algn="just">
              <a:lnSpc>
                <a:spcPct val="100000"/>
              </a:lnSpc>
              <a:spcBef>
                <a:spcPts val="675"/>
              </a:spcBef>
              <a:tabLst>
                <a:tab pos="244475" algn="l"/>
              </a:tabLst>
            </a:pPr>
            <a:r>
              <a:rPr lang="en-US" sz="2400" dirty="0" smtClean="0"/>
              <a:t>Let’s delve into the concept of a variable-size sliding window</a:t>
            </a:r>
            <a:r>
              <a:rPr lang="en-US" sz="2400" dirty="0" smtClean="0"/>
              <a:t>.</a:t>
            </a:r>
          </a:p>
          <a:p>
            <a:pPr marL="243840" indent="-231775" algn="just">
              <a:lnSpc>
                <a:spcPct val="100000"/>
              </a:lnSpc>
              <a:spcBef>
                <a:spcPts val="675"/>
              </a:spcBef>
              <a:tabLst>
                <a:tab pos="244475" algn="l"/>
              </a:tabLst>
            </a:pPr>
            <a:endParaRPr lang="en-US" sz="2400" dirty="0" smtClean="0">
              <a:latin typeface="Arial MT"/>
              <a:cs typeface="Arial MT"/>
            </a:endParaRPr>
          </a:p>
          <a:p>
            <a:pPr algn="just"/>
            <a:r>
              <a:rPr lang="en-US" sz="2400" dirty="0" smtClean="0"/>
              <a:t>While </a:t>
            </a:r>
            <a:r>
              <a:rPr lang="en-US" sz="2400" dirty="0" smtClean="0"/>
              <a:t>the basic sliding window technique involves a fixed-size window that moves through the data structure, the variable-size sliding window introduces flexibility by allowing the window size to change dynamically based on certain conditions.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This </a:t>
            </a:r>
            <a:r>
              <a:rPr lang="en-US" sz="2400" dirty="0" smtClean="0"/>
              <a:t>is particularly useful when the problem involves finding a </a:t>
            </a:r>
            <a:r>
              <a:rPr lang="en-US" sz="2400" dirty="0" err="1" smtClean="0"/>
              <a:t>subarray</a:t>
            </a:r>
            <a:r>
              <a:rPr lang="en-US" sz="2400" dirty="0" smtClean="0"/>
              <a:t> or substring that satisfies certain criteria.</a:t>
            </a:r>
          </a:p>
          <a:p>
            <a:pPr marL="243840" indent="-231775" algn="just">
              <a:lnSpc>
                <a:spcPct val="100000"/>
              </a:lnSpc>
              <a:spcBef>
                <a:spcPts val="675"/>
              </a:spcBef>
              <a:tabLst>
                <a:tab pos="244475" algn="l"/>
              </a:tabLst>
            </a:pP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264" y="98247"/>
            <a:ext cx="8066736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i="1" dirty="0" smtClean="0"/>
              <a:t>Variable Size Sliding Window Approach: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944372"/>
            <a:ext cx="7797165" cy="55521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/>
            <a:r>
              <a:rPr lang="en-US" sz="2400" dirty="0" smtClean="0"/>
              <a:t>In this approach, instead of maintaining a fixed-size window throughout the entire process, you adjust the window size as needed. The window can grow or shrink depending on the problem’s requirements.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Example </a:t>
            </a:r>
            <a:r>
              <a:rPr lang="en-US" sz="2400" b="1" dirty="0" smtClean="0"/>
              <a:t>Problem: </a:t>
            </a:r>
            <a:r>
              <a:rPr lang="en-US" sz="2400" dirty="0" smtClean="0"/>
              <a:t>Longest </a:t>
            </a:r>
            <a:r>
              <a:rPr lang="en-US" sz="2400" dirty="0" err="1" smtClean="0"/>
              <a:t>Subarray</a:t>
            </a:r>
            <a:r>
              <a:rPr lang="en-US" sz="2400" dirty="0" smtClean="0"/>
              <a:t> with Sum Less Than K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Problem</a:t>
            </a:r>
            <a:r>
              <a:rPr lang="en-US" sz="2400" dirty="0" smtClean="0"/>
              <a:t>: Given an array of positive integers and an integer K, find the length of the longest </a:t>
            </a:r>
            <a:r>
              <a:rPr lang="en-US" sz="2400" dirty="0" err="1" smtClean="0"/>
              <a:t>subarray</a:t>
            </a:r>
            <a:r>
              <a:rPr lang="en-US" sz="2400" dirty="0" smtClean="0"/>
              <a:t> whose sum is less than K.</a:t>
            </a:r>
          </a:p>
          <a:p>
            <a:pPr algn="just"/>
            <a:r>
              <a:rPr lang="en-US" sz="2400" dirty="0" smtClean="0"/>
              <a:t>	</a:t>
            </a:r>
            <a:r>
              <a:rPr lang="en-US" sz="2400" b="1" dirty="0" smtClean="0"/>
              <a:t>Initialize </a:t>
            </a:r>
            <a:r>
              <a:rPr lang="en-US" sz="2400" b="1" dirty="0" smtClean="0"/>
              <a:t>variables:</a:t>
            </a:r>
            <a:r>
              <a:rPr lang="en-US" sz="2400" dirty="0" smtClean="0"/>
              <a:t> left to track the start of the </a:t>
            </a:r>
            <a:r>
              <a:rPr lang="en-US" sz="2400" dirty="0" err="1" smtClean="0"/>
              <a:t>subarray</a:t>
            </a:r>
            <a:r>
              <a:rPr lang="en-US" sz="2400" dirty="0" smtClean="0"/>
              <a:t> and right to iterate through the array.</a:t>
            </a:r>
          </a:p>
          <a:p>
            <a:pPr algn="just"/>
            <a:r>
              <a:rPr lang="en-US" sz="2400" dirty="0" smtClean="0"/>
              <a:t>	</a:t>
            </a:r>
            <a:r>
              <a:rPr lang="en-US" sz="2400" b="1" dirty="0" smtClean="0"/>
              <a:t>Initialize</a:t>
            </a:r>
            <a:r>
              <a:rPr lang="en-US" sz="2400" b="1" dirty="0" smtClean="0"/>
              <a:t> </a:t>
            </a:r>
            <a:r>
              <a:rPr lang="en-US" sz="2400" i="1" dirty="0" err="1" smtClean="0"/>
              <a:t>windowSum</a:t>
            </a:r>
            <a:r>
              <a:rPr lang="en-US" sz="2400" dirty="0" smtClean="0"/>
              <a:t> as the first element of the array.</a:t>
            </a:r>
          </a:p>
          <a:p>
            <a:pPr algn="just"/>
            <a:r>
              <a:rPr lang="en-US" sz="2400" dirty="0" smtClean="0"/>
              <a:t>	</a:t>
            </a:r>
            <a:r>
              <a:rPr lang="en-US" sz="2400" b="1" dirty="0" smtClean="0"/>
              <a:t>Initialize</a:t>
            </a:r>
            <a:r>
              <a:rPr lang="en-US" sz="2400" dirty="0" smtClean="0"/>
              <a:t> </a:t>
            </a:r>
            <a:r>
              <a:rPr lang="en-US" sz="2400" i="1" dirty="0" err="1" smtClean="0"/>
              <a:t>maxLength</a:t>
            </a:r>
            <a:r>
              <a:rPr lang="en-US" sz="2400" dirty="0" smtClean="0"/>
              <a:t> to keep track of the maximum </a:t>
            </a:r>
            <a:r>
              <a:rPr lang="en-US" sz="2400" dirty="0" err="1" smtClean="0"/>
              <a:t>subarray</a:t>
            </a:r>
            <a:r>
              <a:rPr lang="en-US" sz="2400" dirty="0" smtClean="0"/>
              <a:t> length.</a:t>
            </a:r>
            <a:endParaRPr lang="en-US" sz="240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447800" y="5638800"/>
            <a:ext cx="5334000" cy="5334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Output:</a:t>
            </a:r>
            <a:r>
              <a:rPr sz="2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Strings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equal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18</a:t>
            </a:fld>
            <a:endParaRPr spc="-5" dirty="0"/>
          </a:p>
        </p:txBody>
      </p:sp>
      <p:pic>
        <p:nvPicPr>
          <p:cNvPr id="28674" name="Picture 2" descr="https://miro.medium.com/v2/resize:fit:770/1*X7yAcz3eX4VCC7GhUmDTDQ.png"/>
          <p:cNvPicPr>
            <a:picLocks noChangeAspect="1" noChangeArrowheads="1"/>
          </p:cNvPicPr>
          <p:nvPr/>
        </p:nvPicPr>
        <p:blipFill>
          <a:blip r:embed="rId2"/>
          <a:srcRect l="11429" t="17819" r="11688" b="9965"/>
          <a:stretch>
            <a:fillRect/>
          </a:stretch>
        </p:blipFill>
        <p:spPr bwMode="auto">
          <a:xfrm>
            <a:off x="1371600" y="514865"/>
            <a:ext cx="6096000" cy="63431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74447"/>
            <a:ext cx="385699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dirty="0" smtClean="0"/>
              <a:t>Conclusion</a:t>
            </a:r>
            <a:endParaRPr lang="en-US" sz="32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70178"/>
            <a:ext cx="8070850" cy="2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lang="en-US" sz="2400" dirty="0" smtClean="0"/>
              <a:t>In conclusion, the sliding window technique is a powerful and versatile algorithmic approach that provides an efficient solution for various problems involving sequential data structures like arrays and strings.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It </a:t>
            </a:r>
            <a:r>
              <a:rPr lang="en-US" sz="2400" dirty="0" smtClean="0"/>
              <a:t>offers a structured way to process contiguous segments of data within these structures while optimizing time complexity and sometimes space complexity.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68" y="154304"/>
            <a:ext cx="826973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i="1" dirty="0" smtClean="0"/>
              <a:t>Advantages of using the sliding window </a:t>
            </a:r>
            <a:r>
              <a:rPr lang="en-US" sz="2400" i="1" dirty="0" smtClean="0"/>
              <a:t>technique:</a:t>
            </a:r>
            <a:endParaRPr sz="2400" i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77418" y="1024254"/>
            <a:ext cx="8201025" cy="407483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/>
            <a:r>
              <a:rPr lang="en-US" sz="2400" b="1" dirty="0" smtClean="0"/>
              <a:t>Optimization</a:t>
            </a:r>
            <a:r>
              <a:rPr lang="en-US" sz="2400" dirty="0" smtClean="0"/>
              <a:t>: By maintaining a window of elements, the technique avoids redundant calculations and comparisons, leading to optimized computations.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Constant </a:t>
            </a:r>
            <a:r>
              <a:rPr lang="en-US" sz="2400" b="1" dirty="0" smtClean="0"/>
              <a:t>Space Complexity</a:t>
            </a:r>
            <a:r>
              <a:rPr lang="en-US" sz="2400" dirty="0" smtClean="0"/>
              <a:t>: The sliding window technique often requires only a constant amount of additional memory, making it memory-efficient.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Efficiency</a:t>
            </a:r>
            <a:r>
              <a:rPr lang="en-US" sz="2400" b="1" dirty="0" smtClean="0"/>
              <a:t>:</a:t>
            </a:r>
            <a:r>
              <a:rPr lang="en-US" sz="2400" dirty="0" smtClean="0"/>
              <a:t> The sliding window technique often reduces time complexity from a naive brute-force approach to linear or nearly linear, making it well-suited for processing large datasets.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292" y="167766"/>
            <a:ext cx="71196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mtClean="0">
                <a:solidFill>
                  <a:srgbClr val="585858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3000" dirty="0" err="1" smtClean="0">
                <a:solidFill>
                  <a:srgbClr val="585858"/>
                </a:solidFill>
                <a:latin typeface="Times New Roman" pitchFamily="18" charset="0"/>
                <a:cs typeface="Times New Roman" pitchFamily="18" charset="0"/>
              </a:rPr>
              <a:t>liding</a:t>
            </a:r>
            <a:r>
              <a:rPr lang="en-US" sz="3000" dirty="0" smtClean="0">
                <a:solidFill>
                  <a:srgbClr val="585858"/>
                </a:solidFill>
                <a:latin typeface="Times New Roman" pitchFamily="18" charset="0"/>
                <a:cs typeface="Times New Roman" pitchFamily="18" charset="0"/>
              </a:rPr>
              <a:t> Window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86331"/>
            <a:ext cx="8018780" cy="20742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675640" indent="-231775">
              <a:lnSpc>
                <a:spcPct val="100000"/>
              </a:lnSpc>
              <a:spcBef>
                <a:spcPts val="95"/>
              </a:spcBef>
              <a:buClr>
                <a:srgbClr val="006FC0"/>
              </a:buClr>
              <a:buChar char="•"/>
              <a:tabLst>
                <a:tab pos="243840" algn="l"/>
                <a:tab pos="244475" algn="l"/>
              </a:tabLst>
            </a:pPr>
            <a:r>
              <a:rPr lang="en-US" sz="2200" spc="-5" dirty="0" smtClean="0">
                <a:solidFill>
                  <a:srgbClr val="585858"/>
                </a:solidFill>
                <a:latin typeface="Arial MT"/>
                <a:cs typeface="Arial MT"/>
              </a:rPr>
              <a:t>Important</a:t>
            </a:r>
            <a:r>
              <a:rPr sz="2200" spc="20" smtClean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mtClean="0">
                <a:solidFill>
                  <a:srgbClr val="585858"/>
                </a:solidFill>
                <a:latin typeface="Arial MT"/>
                <a:cs typeface="Arial MT"/>
              </a:rPr>
              <a:t>links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FC0"/>
              </a:buClr>
              <a:buFont typeface="Arial MT"/>
              <a:buChar char="•"/>
            </a:pPr>
            <a:endParaRPr lang="en-US" sz="2000" dirty="0" smtClean="0">
              <a:latin typeface="Arial MT"/>
              <a:cs typeface="Arial MT"/>
              <a:hlinkClick r:id="rId2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FC0"/>
              </a:buClr>
              <a:buFont typeface="Arial MT"/>
              <a:buChar char="•"/>
            </a:pPr>
            <a:r>
              <a:rPr lang="en-US" sz="2000" dirty="0" smtClean="0">
                <a:latin typeface="Arial MT"/>
                <a:cs typeface="Arial MT"/>
                <a:hlinkClick r:id="rId2"/>
              </a:rPr>
              <a:t>https</a:t>
            </a:r>
            <a:r>
              <a:rPr lang="en-US" sz="2000" dirty="0" smtClean="0">
                <a:latin typeface="Arial MT"/>
                <a:cs typeface="Arial MT"/>
                <a:hlinkClick r:id="rId2"/>
              </a:rPr>
              <a:t>://</a:t>
            </a:r>
            <a:r>
              <a:rPr lang="en-US" sz="2000" dirty="0" smtClean="0">
                <a:latin typeface="Arial MT"/>
                <a:cs typeface="Arial MT"/>
                <a:hlinkClick r:id="rId2"/>
              </a:rPr>
              <a:t>takeuforward.org/data-structure/sliding-window-technique</a:t>
            </a:r>
            <a:endParaRPr lang="en-US" sz="2000" dirty="0" smtClean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FC0"/>
              </a:buClr>
              <a:buFont typeface="Arial MT"/>
              <a:buChar char="•"/>
            </a:pPr>
            <a:r>
              <a:rPr lang="en-US" sz="2000" dirty="0" smtClean="0">
                <a:latin typeface="Arial MT"/>
                <a:cs typeface="Arial MT"/>
                <a:hlinkClick r:id="rId3"/>
              </a:rPr>
              <a:t>https://leetcode.com/discuss/post/3722472/sliding-window-technique-a-comprehensive-ix2k</a:t>
            </a:r>
            <a:r>
              <a:rPr lang="en-US" sz="2000" dirty="0" smtClean="0">
                <a:latin typeface="Arial MT"/>
                <a:cs typeface="Arial MT"/>
                <a:hlinkClick r:id="rId3"/>
              </a:rPr>
              <a:t>/</a:t>
            </a:r>
            <a:endParaRPr lang="en-US" sz="2000" dirty="0" smtClean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FC0"/>
              </a:buClr>
            </a:pP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0214" y="1006855"/>
            <a:ext cx="7158990" cy="23282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" dirty="0">
                <a:latin typeface="Arial MT"/>
                <a:cs typeface="Arial MT"/>
              </a:rPr>
              <a:t> this module,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able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800" dirty="0">
                <a:latin typeface="Arial MT"/>
                <a:cs typeface="Arial MT"/>
              </a:rPr>
              <a:t>: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50">
              <a:latin typeface="Arial MT"/>
              <a:cs typeface="Arial MT"/>
            </a:endParaRPr>
          </a:p>
          <a:p>
            <a:pPr marL="524510" indent="-287020">
              <a:lnSpc>
                <a:spcPct val="100000"/>
              </a:lnSpc>
              <a:spcBef>
                <a:spcPts val="1480"/>
              </a:spcBef>
              <a:buChar char="•"/>
              <a:tabLst>
                <a:tab pos="524510" algn="l"/>
                <a:tab pos="525145" algn="l"/>
              </a:tabLst>
            </a:pPr>
            <a:r>
              <a:rPr lang="en-US" sz="2400" spc="-5" dirty="0" smtClean="0">
                <a:latin typeface="Arial MT"/>
                <a:cs typeface="Arial MT"/>
              </a:rPr>
              <a:t>Solve problem statements using Sliding Window </a:t>
            </a:r>
            <a:r>
              <a:rPr lang="en-US" sz="2400" spc="-5" dirty="0" smtClean="0">
                <a:latin typeface="Arial MT"/>
                <a:cs typeface="Arial MT"/>
              </a:rPr>
              <a:t>approach</a:t>
            </a:r>
          </a:p>
          <a:p>
            <a:pPr marL="524510" indent="-287020">
              <a:lnSpc>
                <a:spcPct val="100000"/>
              </a:lnSpc>
              <a:spcBef>
                <a:spcPts val="1480"/>
              </a:spcBef>
              <a:buChar char="•"/>
              <a:tabLst>
                <a:tab pos="524510" algn="l"/>
                <a:tab pos="525145" algn="l"/>
              </a:tabLst>
            </a:pPr>
            <a:endParaRPr lang="en-US"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22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4668" y="174447"/>
            <a:ext cx="1761489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Summa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y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23</a:t>
            </a:fld>
            <a:endParaRPr spc="-5" dirty="0"/>
          </a:p>
        </p:txBody>
      </p:sp>
      <p:pic>
        <p:nvPicPr>
          <p:cNvPr id="25602" name="Picture 2" descr="https://miro.medium.com/v2/resize:fit:755/1*9QwI3DSytsj3Xf2XCOj_6A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990600"/>
            <a:ext cx="8667057" cy="4876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GLA</Template>
  <TotalTime>41</TotalTime>
  <Words>909</Words>
  <Application>Microsoft Office PowerPoint</Application>
  <PresentationFormat>On-screen Show (4:3)</PresentationFormat>
  <Paragraphs>165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Slide 2</vt:lpstr>
      <vt:lpstr>Objectives</vt:lpstr>
      <vt:lpstr>Sliding Window technique</vt:lpstr>
      <vt:lpstr>What is the Sliding Window Algorithm?</vt:lpstr>
      <vt:lpstr>Using the Sliding Window Technique:</vt:lpstr>
      <vt:lpstr>Using the Sliding Window Technique:</vt:lpstr>
      <vt:lpstr>Problem: </vt:lpstr>
      <vt:lpstr>Problem: </vt:lpstr>
      <vt:lpstr>Implementations of the sliding window technique:</vt:lpstr>
      <vt:lpstr>Implementations of the sliding window technique:</vt:lpstr>
      <vt:lpstr>Implementations of the sliding window technique:</vt:lpstr>
      <vt:lpstr>Time and Space complexity:</vt:lpstr>
      <vt:lpstr>Common Problems</vt:lpstr>
      <vt:lpstr>Common Problems</vt:lpstr>
      <vt:lpstr>Introducing the concept of a variable-size window:</vt:lpstr>
      <vt:lpstr>Variable Size Sliding Window Approach:</vt:lpstr>
      <vt:lpstr>Slide 18</vt:lpstr>
      <vt:lpstr>Conclusion</vt:lpstr>
      <vt:lpstr>Advantages of using the sliding window technique:</vt:lpstr>
      <vt:lpstr>Sliding Window</vt:lpstr>
      <vt:lpstr>Summary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HP</cp:lastModifiedBy>
  <cp:revision>5</cp:revision>
  <dcterms:created xsi:type="dcterms:W3CDTF">2023-02-02T07:01:30Z</dcterms:created>
  <dcterms:modified xsi:type="dcterms:W3CDTF">2025-11-20T09:46:02Z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2016-09-29T00:00:00Z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2023-02-02T00:00:00Z</vt:filetime>
  </property>
</Properties>
</file>